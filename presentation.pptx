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3A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E89B2E"/>
                </a:solidFill>
                <a:latin typeface="Calibri"/>
              </a:rPr>
              <a:t>HEAT PUMP COPILOT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32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Field Commissioning &amp; HEMS Connectivity Copilot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77639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Round 2 — Consulting Package, MVP &amp; Deployment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76072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CFDDDA"/>
                </a:solidFill>
                <a:latin typeface="Calibri"/>
              </a:rPr>
              <a:t>Anand Narasipuram · Ironhack AI Capstone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E89B2E"/>
                </a:solidFill>
                <a:latin typeface="Calibri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33A38"/>
                </a:solidFill>
                <a:latin typeface="Calibri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232B2A"/>
                </a:solidFill>
                <a:latin typeface="Calibri"/>
              </a:rPr>
              <a:t>›  The problem — installer capacity, not demand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232B2A"/>
                </a:solidFill>
                <a:latin typeface="Calibri"/>
              </a:rPr>
              <a:t>›  Proposed solution — a three-mode advisory copilot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232B2A"/>
                </a:solidFill>
                <a:latin typeface="Calibri"/>
              </a:rPr>
              <a:t>›  From POC (Round 1) to a working MVP (Round 2) — live demo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232B2A"/>
                </a:solidFill>
                <a:latin typeface="Calibri"/>
              </a:rPr>
              <a:t>›  Business case — ROI, break-even, risk matrix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232B2A"/>
                </a:solidFill>
                <a:latin typeface="Calibri"/>
              </a:rPr>
              <a:t>›  Compliance — EU AI Act classification, GDPR posture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232B2A"/>
                </a:solidFill>
                <a:latin typeface="Calibri"/>
              </a:rPr>
              <a:t>›  Strategic plan — POC → Pilot → Full Deployment, go-to-market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232B2A"/>
                </a:solidFill>
                <a:latin typeface="Calibri"/>
              </a:rPr>
              <a:t>›  The ask — what we need to greenlight the pilot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E89B2E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33A38"/>
                </a:solidFill>
                <a:latin typeface="Calibri"/>
              </a:rPr>
              <a:t>Two field problems that look identical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55778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232B2A"/>
                </a:solidFill>
                <a:latin typeface="Calibri"/>
              </a:rPr>
              <a:t>›  A genuine hardware fault requiring a certified technician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232B2A"/>
                </a:solidFill>
                <a:latin typeface="Calibri"/>
              </a:rPr>
              <a:t>›  A HEMS connectivity/pairing/app issue that needs no hardware visit at all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232B2A"/>
                </a:solidFill>
                <a:latin typeface="Calibri"/>
              </a:rPr>
              <a:t>›  Installers cannot reliably tell them apart from symptoms alone — a documented, industry-wide ambiguity, not a Chleo-specific bug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232B2A"/>
                </a:solidFill>
                <a:latin typeface="Calibri"/>
              </a:rPr>
              <a:t>›  The costliest failure: a false hardware-fault dispatch — an unneeded parts/technician visit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1737360"/>
            <a:ext cx="4937760" cy="4206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1920240"/>
            <a:ext cx="4389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33A38"/>
                </a:solidFill>
                <a:latin typeface="Calibri"/>
              </a:rPr>
              <a:t>Why the company can't just hire more installers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2468880"/>
            <a:ext cx="43891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Germany trains ~12,000 SHK tradespeople/yr against ~35,000/yr needed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6M-heat-pump-by-2030 target needs a ~50% installer-workforce uplift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2024 sales: ~193,000 (down 46% vs. target of 500,000/yr)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A capacity multiplier for existing installers beats a hiring plan the labor market can't supply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E89B2E"/>
                </a:solidFill>
                <a:latin typeface="Calibri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33A38"/>
                </a:solidFill>
                <a:latin typeface="Calibri"/>
              </a:rPr>
              <a:t>One copilot, three integrated modes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37360"/>
            <a:ext cx="3520440" cy="4206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37360"/>
            <a:ext cx="3520440" cy="109728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1168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 i="0">
                <a:solidFill>
                  <a:srgbClr val="232B2A"/>
                </a:solidFill>
                <a:latin typeface="Calibri"/>
              </a:rPr>
              <a:t>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9748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133A38"/>
                </a:solidFill>
                <a:latin typeface="Calibri"/>
              </a:rPr>
              <a:t>Fault Triage Copilot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20040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89B2E"/>
                </a:solidFill>
                <a:latin typeface="Calibri"/>
              </a:rPr>
              <a:t>Reactive — the flagship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657600"/>
            <a:ext cx="30175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B6664"/>
                </a:solidFill>
                <a:latin typeface="Calibri"/>
              </a:rPr>
              <a:t>Fault code / symptom → hardware, connectivity, or installer-error classification → fix guidance or escalation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19" y="1737360"/>
            <a:ext cx="3520440" cy="4206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19" y="1737360"/>
            <a:ext cx="3520440" cy="109728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39" y="201168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 i="0">
                <a:solidFill>
                  <a:srgbClr val="232B2A"/>
                </a:solidFill>
                <a:latin typeface="Calibri"/>
              </a:rPr>
              <a:t>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39" y="269748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133A38"/>
                </a:solidFill>
                <a:latin typeface="Calibri"/>
              </a:rPr>
              <a:t>Commissioning Checker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39" y="320040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89B2E"/>
                </a:solidFill>
                <a:latin typeface="Calibri"/>
              </a:rPr>
              <a:t>Preventive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39" y="3657600"/>
            <a:ext cx="30175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B6664"/>
                </a:solidFill>
                <a:latin typeface="Calibri"/>
              </a:rPr>
              <a:t>Confirms commissioning steps were completed before an installer signs a job off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58" y="1737360"/>
            <a:ext cx="3520440" cy="4206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38158" y="1737360"/>
            <a:ext cx="3520440" cy="109728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78" y="201168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 i="0">
                <a:solidFill>
                  <a:srgbClr val="232B2A"/>
                </a:solidFill>
                <a:latin typeface="Calibri"/>
              </a:rPr>
              <a:t>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78" y="269748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133A38"/>
                </a:solidFill>
                <a:latin typeface="Calibri"/>
              </a:rPr>
              <a:t>COP-Drop Early-Warning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8" y="320040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89B2E"/>
                </a:solidFill>
                <a:latin typeface="Calibri"/>
              </a:rPr>
              <a:t>Predictive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78" y="3657600"/>
            <a:ext cx="30175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B6664"/>
                </a:solidFill>
                <a:latin typeface="Calibri"/>
              </a:rPr>
              <a:t>Flags a unit likely to fail before anyone reports a fault, using seasonal COP baselines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E89B2E"/>
                </a:solidFill>
                <a:latin typeface="Calibri"/>
              </a:rPr>
              <a:t>ROUND 1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33A38"/>
                </a:solidFill>
                <a:latin typeface="Calibri"/>
              </a:rPr>
              <a:t>The POC: n8n + Telegram, keyword-grounded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700">
                <a:solidFill>
                  <a:srgbClr val="232B2A"/>
                </a:solidFill>
                <a:latin typeface="Calibri"/>
              </a:rPr>
              <a:t>›  13 fault codes resolved instantly by deterministic lookup — no API cost, fully auditable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232B2A"/>
                </a:solidFill>
                <a:latin typeface="Calibri"/>
              </a:rPr>
              <a:t>›  Free-text symptoms grounded in a manual knowledge base via keyword matching (Vaillant + Octopus documentation)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232B2A"/>
                </a:solidFill>
                <a:latin typeface="Calibri"/>
              </a:rPr>
              <a:t>›  OpenAI classification for anything the lookup table doesn't cover — replies in the installer's own language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232B2A"/>
                </a:solidFill>
                <a:latin typeface="Calibri"/>
              </a:rPr>
              <a:t>›  Every response labeled: "AI-suggested triage — confirm before acting" — advisory only, by design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232B2A"/>
                </a:solidFill>
                <a:latin typeface="Calibri"/>
              </a:rPr>
              <a:t>›  Live-demoable on Telegram in real time — proved the interaction pattern before investing in a full app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E89B2E"/>
                </a:solidFill>
                <a:latin typeface="Calibri"/>
              </a:rPr>
              <a:t>ROUND 2 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33A38"/>
                </a:solidFill>
                <a:latin typeface="Calibri"/>
              </a:rPr>
              <a:t>The upgrade: real RAG, one working 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33A38"/>
                </a:solidFill>
                <a:latin typeface="Calibri"/>
              </a:rPr>
              <a:t>What changed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5212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Keyword match → OpenAI embeddings + Pinecone vector search (real RAG)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Telegram-only → a single Streamlit app, all 3 modes, one command to run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LangSmith placeholder → every interaction traced live, not a one-off script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16 offline unit tests — deterministic logic verified with zero API keys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Fails soft everywhere: missing keys degrade to a labeled fallback, never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691640"/>
            <a:ext cx="5303520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87451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33A38"/>
                </a:solidFill>
                <a:latin typeface="Calibri"/>
              </a:rPr>
              <a:t>Pipeline (Mode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377440"/>
            <a:ext cx="4754880" cy="3383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32B2A"/>
                </a:solidFill>
                <a:latin typeface="Calibri"/>
              </a:rPr>
              <a:t>Installer message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32B2A"/>
                </a:solidFill>
                <a:latin typeface="Calibri"/>
              </a:rPr>
              <a:t>↓  fault-code regex lookup (instant, free)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32B2A"/>
                </a:solidFill>
                <a:latin typeface="Calibri"/>
              </a:rPr>
              <a:t>↓  no match → Pinecone similarity search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32B2A"/>
                </a:solidFill>
                <a:latin typeface="Calibri"/>
              </a:rPr>
              <a:t>     over embedded manual knowledge base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32B2A"/>
                </a:solidFill>
                <a:latin typeface="Calibri"/>
              </a:rPr>
              <a:t>↓  OpenAI classification, grounded in the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32B2A"/>
                </a:solidFill>
                <a:latin typeface="Calibri"/>
              </a:rPr>
              <a:t>     retrieved excerpt, JSON-mode output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32B2A"/>
                </a:solidFill>
                <a:latin typeface="Calibri"/>
              </a:rPr>
              <a:t>↓  structured result + "confirm before acting"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5C5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>
                <a:solidFill>
                  <a:srgbClr val="CFDDDA"/>
                </a:solidFill>
                <a:latin typeface="Calibri"/>
              </a:rPr>
              <a:t>mvp/app.py — Fault Triage Copilot · Commissioning Checker · COP-Drop Early-Warning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E89B2E"/>
                </a:solidFill>
                <a:latin typeface="Calibri"/>
              </a:rPr>
              <a:t>BUSINESS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33A38"/>
                </a:solidFill>
                <a:latin typeface="Calibri"/>
              </a:rPr>
              <a:t>Success criteria (pilot targets)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508760"/>
          <a:ext cx="10881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365760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33A3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FFFFFF"/>
                          </a:solidFill>
                        </a:rPr>
                        <a:t>Baseline (Round 1 synthetic data)</a:t>
                      </a:r>
                    </a:p>
                  </a:txBody>
                  <a:tcPr>
                    <a:solidFill>
                      <a:srgbClr val="133A3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FFFFFF"/>
                          </a:solidFill>
                        </a:rPr>
                        <a:t>Pilot target</a:t>
                      </a:r>
                    </a:p>
                  </a:txBody>
                  <a:tcPr>
                    <a:solidFill>
                      <a:srgbClr val="133A3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32B2A"/>
                          </a:solidFill>
                        </a:rPr>
                        <a:t>First-visit fix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32B2A"/>
                          </a:solidFill>
                        </a:rPr>
                        <a:t>69.1%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32B2A"/>
                          </a:solidFill>
                        </a:rPr>
                        <a:t>≥ 79.1% (+10pp)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32B2A"/>
                          </a:solidFill>
                        </a:rPr>
                        <a:t>False hardware-fault rate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32B2A"/>
                          </a:solidFill>
                        </a:rPr>
                        <a:t>10.9%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32B2A"/>
                          </a:solidFill>
                        </a:rPr>
                        <a:t>≤ 5.9% (−5pp)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32B2A"/>
                          </a:solidFill>
                        </a:rPr>
                        <a:t>Median time-to-classification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32B2A"/>
                          </a:solidFill>
                        </a:rPr>
                        <a:t>n/a (manual triage)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32B2A"/>
                          </a:solidFill>
                        </a:rPr>
                        <a:t>&lt; 30 seconds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E89B2E"/>
                </a:solidFill>
                <a:latin typeface="Calibri"/>
              </a:rPr>
              <a:t>BUSINESS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33A38"/>
                </a:solidFill>
                <a:latin typeface="Calibri"/>
              </a:rPr>
              <a:t>ROI — central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37360"/>
            <a:ext cx="260604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2240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33A38"/>
                </a:solidFill>
                <a:latin typeface="Calibri"/>
              </a:rPr>
              <a:t>≈ 241%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80360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B6664"/>
                </a:solidFill>
                <a:latin typeface="Calibri"/>
              </a:rPr>
              <a:t>Year 1 ROI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1737360"/>
            <a:ext cx="260604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1920240"/>
            <a:ext cx="2240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33A38"/>
                </a:solidFill>
                <a:latin typeface="Calibri"/>
              </a:rPr>
              <a:t>≈ 1,198%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880360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B6664"/>
                </a:solidFill>
                <a:latin typeface="Calibri"/>
              </a:rPr>
              <a:t>36-month ROI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737360"/>
            <a:ext cx="260604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920240"/>
            <a:ext cx="2240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33A38"/>
                </a:solidFill>
                <a:latin typeface="Calibri"/>
              </a:rPr>
              <a:t>~3.5–4 months into pilot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880360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B6664"/>
                </a:solidFill>
                <a:latin typeface="Calibri"/>
              </a:rPr>
              <a:t>Break-even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69680" y="1737360"/>
            <a:ext cx="260604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52560" y="1920240"/>
            <a:ext cx="2240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33A38"/>
                </a:solidFill>
                <a:latin typeface="Calibri"/>
              </a:rPr>
              <a:t>≈ €20,150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2880360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B6664"/>
                </a:solidFill>
                <a:latin typeface="Calibri"/>
              </a:rPr>
              <a:t>Combined build cost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93192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5B6664"/>
                </a:solidFill>
                <a:latin typeface="Calibri"/>
              </a:rPr>
              <a:t>ROI = (Net Benefit / Total Cost) × 100 — full assumptions table in roi_risk_assessment.md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572000"/>
            <a:ext cx="10607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Value = avoided false-hardware-fault dispatches + avoided second visits, at a stated 70% realization factor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Figures are gross operational cost avoidance from a synthetic-data baseline — pilot-validation targets, not audited financials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E89B2E"/>
                </a:solidFill>
                <a:latin typeface="Calibri"/>
              </a:rPr>
              <a:t>BUSINESS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33A38"/>
                </a:solidFill>
                <a:latin typeface="Calibri"/>
              </a:rPr>
              <a:t>Top risks (full matrix: 8 risks, 4 categories)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508760"/>
          <a:ext cx="10881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554480"/>
                <a:gridCol w="457200"/>
                <a:gridCol w="457200"/>
                <a:gridCol w="53949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</a:rPr>
                        <a:t>Risk</a:t>
                      </a:r>
                    </a:p>
                  </a:txBody>
                  <a:tcPr>
                    <a:solidFill>
                      <a:srgbClr val="133A3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133A3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</a:rPr>
                        <a:t>L</a:t>
                      </a:r>
                    </a:p>
                  </a:txBody>
                  <a:tcPr>
                    <a:solidFill>
                      <a:srgbClr val="133A3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133A3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</a:rPr>
                        <a:t>Mitigation</a:t>
                      </a:r>
                    </a:p>
                  </a:txBody>
                  <a:tcPr>
                    <a:solidFill>
                      <a:srgbClr val="133A3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EU AI Act boundary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Regulatory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Advisory-only positioning enforced by design + legal gate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LLM misclassification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Technical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Deterministic-first routing, safe-default escalation, human confirmation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Automation bias / over-reliance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Ethical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Persistent disclaimer, training, override-rate KPI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Low installer adoption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Operational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Champions, adoption KPI, low-friction chat interaction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E89B2E"/>
                </a:solidFill>
                <a:latin typeface="Calibri"/>
              </a:rPr>
              <a:t>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33A38"/>
                </a:solidFill>
                <a:latin typeface="Calibri"/>
              </a:rPr>
              <a:t>EU AI Act — Limited Risk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37360"/>
            <a:ext cx="4023360" cy="914400"/>
          </a:xfrm>
          <a:prstGeom prst="rect">
            <a:avLst/>
          </a:prstGeom>
          <a:solidFill>
            <a:srgbClr val="3E7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LIMITED RISK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34640"/>
            <a:ext cx="5303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Not prohibited (Art. 5) — no manipulation, no biometric data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Not high-risk under Annex I — not a safety component of the appliance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Not high-risk under Annex III — reasoned explicitly against the closest calls (critical infrastructure, employment)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→ Only obligation: Art. 50 transparency disclosure — already implemented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737360"/>
            <a:ext cx="5212080" cy="4206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92024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33A38"/>
                </a:solidFill>
                <a:latin typeface="Calibri"/>
              </a:rPr>
              <a:t>The boundary that would change this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468880"/>
            <a:ext cx="466344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32B2A"/>
                </a:solidFill>
                <a:latin typeface="Calibri"/>
              </a:rPr>
              <a:t>If a future version were wired to auto-trigger a shutdown/lockout, bypass a technician's confirmation, or evaluate individual installer performance — reclassification is re-run before any such change, not assumed to still hold.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E89B2E"/>
                </a:solidFill>
                <a:latin typeface="Calibri"/>
              </a:rPr>
              <a:t>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33A38"/>
                </a:solidFill>
                <a:latin typeface="Calibri"/>
              </a:rPr>
              <a:t>GDPR — what changes at pilot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>
                <a:solidFill>
                  <a:srgbClr val="232B2A"/>
                </a:solidFill>
                <a:latin typeface="Calibri"/>
              </a:rPr>
              <a:t>›  Round 1 + Round 2 MVP: public/synthetic data only — no real personal data processed today</a:t>
            </a:r>
          </a:p>
          <a:p>
            <a:pPr>
              <a:spcAft>
                <a:spcPts val="1600"/>
              </a:spcAft>
            </a:pPr>
            <a:r>
              <a:rPr sz="1600">
                <a:solidFill>
                  <a:srgbClr val="232B2A"/>
                </a:solidFill>
                <a:latin typeface="Calibri"/>
              </a:rPr>
              <a:t>›  Pilot introduces installer-identifiable data (chat content, job records) — legal basis: legitimate interest</a:t>
            </a:r>
          </a:p>
          <a:p>
            <a:pPr>
              <a:spcAft>
                <a:spcPts val="1600"/>
              </a:spcAft>
            </a:pPr>
            <a:r>
              <a:rPr sz="1600">
                <a:solidFill>
                  <a:srgbClr val="232B2A"/>
                </a:solidFill>
                <a:latin typeface="Calibri"/>
              </a:rPr>
              <a:t>›  Short DPIA completed on the highest-risk activity (free-text chat) — residual risk: low, DPO review recommended before go-live</a:t>
            </a:r>
          </a:p>
          <a:p>
            <a:pPr>
              <a:spcAft>
                <a:spcPts val="1600"/>
              </a:spcAft>
            </a:pPr>
            <a:r>
              <a:rPr sz="1600">
                <a:solidFill>
                  <a:srgbClr val="232B2A"/>
                </a:solidFill>
                <a:latin typeface="Calibri"/>
              </a:rPr>
              <a:t>›  Art. 22 (automated decision-making) does not apply — the system classifies equipment, not people</a:t>
            </a:r>
          </a:p>
          <a:p>
            <a:pPr>
              <a:spcAft>
                <a:spcPts val="1600"/>
              </a:spcAft>
            </a:pPr>
            <a:r>
              <a:rPr sz="1600">
                <a:solidFill>
                  <a:srgbClr val="232B2A"/>
                </a:solidFill>
                <a:latin typeface="Calibri"/>
              </a:rPr>
              <a:t>›  Third-party transfers: OpenAI, Pinecone, LangSmith — all have EU-region or SCC-based options; config, not redesign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E89B2E"/>
                </a:solidFill>
                <a:latin typeface="Calibri"/>
              </a:rPr>
              <a:t>STRATEGIC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33A38"/>
                </a:solidFill>
                <a:latin typeface="Calibri"/>
              </a:rPr>
              <a:t>POC → Pilot → Full Deployment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011680"/>
            <a:ext cx="2212848" cy="457200"/>
          </a:xfrm>
          <a:prstGeom prst="rect">
            <a:avLst/>
          </a:prstGeom>
          <a:solidFill>
            <a:srgbClr val="1F5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57400"/>
            <a:ext cx="2212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Phase 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514600"/>
            <a:ext cx="2212848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697480"/>
            <a:ext cx="1938528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33A38"/>
                </a:solidFill>
                <a:latin typeface="Calibri"/>
              </a:rPr>
              <a:t>POC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749039"/>
            <a:ext cx="1938528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5B6664"/>
                </a:solidFill>
                <a:latin typeface="Calibri"/>
              </a:rPr>
              <a:t>Round 1 — done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24328" y="2011680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E89B2E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0" y="2011680"/>
            <a:ext cx="2212848" cy="457200"/>
          </a:xfrm>
          <a:prstGeom prst="rect">
            <a:avLst/>
          </a:prstGeom>
          <a:solidFill>
            <a:srgbClr val="1F5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0" y="2057400"/>
            <a:ext cx="2212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Phase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0" y="2514600"/>
            <a:ext cx="2212848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0360" y="2697480"/>
            <a:ext cx="1938528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33A38"/>
                </a:solidFill>
                <a:latin typeface="Calibri"/>
              </a:rPr>
              <a:t>MVP / Internal</a:t>
            </a:r>
          </a:p>
          <a:p>
            <a:pPr algn="l"/>
            <a:r>
              <a:rPr sz="1500" b="1" i="0">
                <a:solidFill>
                  <a:srgbClr val="133A38"/>
                </a:solidFill>
                <a:latin typeface="Calibri"/>
              </a:rPr>
              <a:t>Validation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3749039"/>
            <a:ext cx="1938528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5B6664"/>
                </a:solidFill>
                <a:latin typeface="Calibri"/>
              </a:rPr>
              <a:t>Round 2 — done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10328" y="2011680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E89B2E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0" y="2011680"/>
            <a:ext cx="2212848" cy="4572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0" y="2057400"/>
            <a:ext cx="2212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Phase 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0" y="2514600"/>
            <a:ext cx="2212848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66360" y="2697480"/>
            <a:ext cx="1938528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33A38"/>
                </a:solidFill>
                <a:latin typeface="Calibri"/>
              </a:rPr>
              <a:t>Pilot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6360" y="3749039"/>
            <a:ext cx="1938528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5B6664"/>
                </a:solidFill>
                <a:latin typeface="Calibri"/>
              </a:rPr>
              <a:t>Oct 2026 – Jan 2027</a:t>
            </a:r>
          </a:p>
          <a:p>
            <a:pPr algn="l"/>
            <a:r>
              <a:rPr sz="1150" b="0" i="0">
                <a:solidFill>
                  <a:srgbClr val="5B6664"/>
                </a:solidFill>
                <a:latin typeface="Calibri"/>
              </a:rPr>
              <a:t>12 weeks, real installers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96328" y="2011680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E89B2E"/>
                </a:solidFill>
                <a:latin typeface="Calibri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2011680"/>
            <a:ext cx="2212848" cy="457200"/>
          </a:xfrm>
          <a:prstGeom prst="rect">
            <a:avLst/>
          </a:prstGeom>
          <a:solidFill>
            <a:srgbClr val="5B6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0" y="2057400"/>
            <a:ext cx="2212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Phase 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0" y="2514600"/>
            <a:ext cx="2212848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52360" y="2697480"/>
            <a:ext cx="1938528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33A38"/>
                </a:solidFill>
                <a:latin typeface="Calibri"/>
              </a:rPr>
              <a:t>Full</a:t>
            </a:r>
          </a:p>
          <a:p>
            <a:pPr algn="l"/>
            <a:r>
              <a:rPr sz="1500" b="1" i="0">
                <a:solidFill>
                  <a:srgbClr val="133A38"/>
                </a:solidFill>
                <a:latin typeface="Calibri"/>
              </a:rPr>
              <a:t>Deployment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2360" y="3749039"/>
            <a:ext cx="1938528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5B6664"/>
                </a:solidFill>
                <a:latin typeface="Calibri"/>
              </a:rPr>
              <a:t>Mar – Aug 2027</a:t>
            </a:r>
          </a:p>
          <a:p>
            <a:pPr algn="l"/>
            <a:r>
              <a:rPr sz="1150" b="0" i="0">
                <a:solidFill>
                  <a:srgbClr val="5B6664"/>
                </a:solidFill>
                <a:latin typeface="Calibri"/>
              </a:rPr>
              <a:t>phased by region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82328" y="2011680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E89B2E"/>
                </a:solidFill>
                <a:latin typeface="Calibri"/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01200" y="2011680"/>
            <a:ext cx="2212848" cy="457200"/>
          </a:xfrm>
          <a:prstGeom prst="rect">
            <a:avLst/>
          </a:prstGeom>
          <a:solidFill>
            <a:srgbClr val="5B6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0" y="2057400"/>
            <a:ext cx="2212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Phase 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01200" y="2514600"/>
            <a:ext cx="2212848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38360" y="2697480"/>
            <a:ext cx="1938528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33A38"/>
                </a:solidFill>
                <a:latin typeface="Calibri"/>
              </a:rPr>
              <a:t>Scale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38360" y="3749039"/>
            <a:ext cx="1938528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5B6664"/>
                </a:solidFill>
                <a:latin typeface="Calibri"/>
              </a:rPr>
              <a:t>2028+</a:t>
            </a:r>
          </a:p>
          <a:p>
            <a:pPr algn="l"/>
            <a:r>
              <a:rPr sz="1150" b="0" i="0">
                <a:solidFill>
                  <a:srgbClr val="5B6664"/>
                </a:solidFill>
                <a:latin typeface="Calibri"/>
              </a:rPr>
              <a:t>optional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30352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232B2A"/>
                </a:solidFill>
                <a:latin typeface="Calibri"/>
              </a:rPr>
              <a:t>Pilot → Full Deployment greenlight requires ALL of: ≥7pp first-visit-fix gain, ≥3pp false-hardware-fault reduction, ≥60% sustained adoption, zero compliance incidents, net-positive installer feedback.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E89B2E"/>
                </a:solidFill>
                <a:latin typeface="Calibri"/>
              </a:rPr>
              <a:t>GO-TO-MARKET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33A38"/>
                </a:solidFill>
                <a:latin typeface="Calibri"/>
              </a:rPr>
              <a:t>From internal tool to (optional) product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33A38"/>
                </a:solidFill>
                <a:latin typeface="Calibri"/>
              </a:rPr>
              <a:t>Phases 1–3: internal cost avoidance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5120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Buyer: Chleo, funding the field-ops budget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Users: own + partner SHK installers — no external sale needed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Differentiator: grounded in Chleo's own manuals, deterministic-first for speed and cost, advisory-only for a light compliance footprint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6916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33A38"/>
                </a:solidFill>
                <a:latin typeface="Calibri"/>
              </a:rPr>
              <a:t>Phase 4: optional licensing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103120"/>
            <a:ext cx="5120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The installer-shortage problem is EU-wide, not Germany-only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White-label to other small-medium manufacturers facing the same constraint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Flat onboarding fee + €15–25/installer/month — priced well below the per-installer value shown in the ROI model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E89B2E"/>
                </a:solidFill>
                <a:latin typeface="Calibri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33A38"/>
                </a:solidFill>
                <a:latin typeface="Calibri"/>
              </a:rPr>
              <a:t>What we need to greenlight the pilot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700">
                <a:solidFill>
                  <a:srgbClr val="232B2A"/>
                </a:solidFill>
                <a:latin typeface="Calibri"/>
              </a:rPr>
              <a:t>›  Sponsor sign-off to proceed from internal validation to a 12-week pilot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232B2A"/>
                </a:solidFill>
                <a:latin typeface="Calibri"/>
              </a:rPr>
              <a:t>›  DPO/legal review of the short DPIA before pilot go-live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232B2A"/>
                </a:solidFill>
                <a:latin typeface="Calibri"/>
              </a:rPr>
              <a:t>›  10–15 pilot installers recruited — a deliberate mix of own and partner SHK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232B2A"/>
                </a:solidFill>
                <a:latin typeface="Calibri"/>
              </a:rPr>
              <a:t>›  Budget: ≈ €20,150 combined build cost (already spent through this package) + ≈ €150–300/month pilot run cost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232B2A"/>
                </a:solidFill>
                <a:latin typeface="Calibri"/>
              </a:rPr>
              <a:t>›  A decision-gate meeting at week 12 against the KPIs in strategic_plan.md — not an open-ended commitment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3A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83464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CFDDDA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0350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CFDDDA"/>
                </a:solidFill>
                <a:latin typeface="Calibri"/>
              </a:rPr>
              <a:t>github.com/anandnarasipuram/Capstone-project-heat-pump-copilot-round-2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