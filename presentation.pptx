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5"/>
  </p:notesMasterIdLst>
  <p:sldIdLst>
    <p:sldId id="338" r:id="rId2"/>
    <p:sldId id="322" r:id="rId3"/>
    <p:sldId id="339" r:id="rId4"/>
    <p:sldId id="324" r:id="rId5"/>
    <p:sldId id="325" r:id="rId6"/>
    <p:sldId id="326" r:id="rId7"/>
    <p:sldId id="327" r:id="rId8"/>
    <p:sldId id="337" r:id="rId9"/>
    <p:sldId id="329" r:id="rId10"/>
    <p:sldId id="330" r:id="rId11"/>
    <p:sldId id="331" r:id="rId12"/>
    <p:sldId id="332" r:id="rId13"/>
    <p:sldId id="33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/>
    <p:restoredTop sz="82986"/>
  </p:normalViewPr>
  <p:slideViewPr>
    <p:cSldViewPr snapToGrid="0" snapToObjects="1">
      <p:cViewPr varScale="1">
        <p:scale>
          <a:sx n="132" d="100"/>
          <a:sy n="132" d="100"/>
        </p:scale>
        <p:origin x="1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0E2145"/>
                </a:solidFill>
              </a:defRPr>
            </a:pPr>
            <a:r>
              <a:rPr lang="en-US" sz="1600" b="1">
                <a:solidFill>
                  <a:srgbClr val="0E2145"/>
                </a:solidFill>
              </a:rPr>
              <a:t>Likelihood × impact (1–5)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Regulatory — AI Act boundary</c:v>
          </c:tx>
          <c:spPr>
            <a:ln w="19050">
              <a:noFill/>
            </a:ln>
          </c:spPr>
          <c:marker>
            <c:symbol val="circle"/>
            <c:size val="18"/>
            <c:spPr>
              <a:solidFill>
                <a:srgbClr val="DC2626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2</c:v>
              </c:pt>
            </c:numLit>
          </c:xVal>
          <c:yVal>
            <c:numLit>
              <c:formatCode>General</c:formatCode>
              <c:ptCount val="1"/>
              <c:pt idx="0">
                <c:v>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DDCB-2841-83D3-2AF35F733670}"/>
            </c:ext>
          </c:extLst>
        </c:ser>
        <c:ser>
          <c:idx val="1"/>
          <c:order val="1"/>
          <c:tx>
            <c:v>Technical — misclassification</c:v>
          </c:tx>
          <c:spPr>
            <a:ln w="19050">
              <a:noFill/>
            </a:ln>
          </c:spPr>
          <c:marker>
            <c:symbol val="square"/>
            <c:size val="18"/>
            <c:spPr>
              <a:solidFill>
                <a:srgbClr val="0E2145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2.8</c:v>
              </c:pt>
            </c:numLit>
          </c:xVal>
          <c:yVal>
            <c:numLit>
              <c:formatCode>General</c:formatCode>
              <c:ptCount val="1"/>
              <c:pt idx="0">
                <c:v>4.05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DDCB-2841-83D3-2AF35F733670}"/>
            </c:ext>
          </c:extLst>
        </c:ser>
        <c:ser>
          <c:idx val="2"/>
          <c:order val="2"/>
          <c:tx>
            <c:v>Ethical — automation bias</c:v>
          </c:tx>
          <c:spPr>
            <a:ln w="19050">
              <a:noFill/>
            </a:ln>
          </c:spPr>
          <c:marker>
            <c:symbol val="diamond"/>
            <c:size val="18"/>
            <c:spPr>
              <a:solidFill>
                <a:srgbClr val="2563EB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3.2</c:v>
              </c:pt>
            </c:numLit>
          </c:xVal>
          <c:yVal>
            <c:numLit>
              <c:formatCode>General</c:formatCode>
              <c:ptCount val="1"/>
              <c:pt idx="0">
                <c:v>4.25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2-DDCB-2841-83D3-2AF35F733670}"/>
            </c:ext>
          </c:extLst>
        </c:ser>
        <c:ser>
          <c:idx val="3"/>
          <c:order val="3"/>
          <c:tx>
            <c:v>Operational — low adoption</c:v>
          </c:tx>
          <c:spPr>
            <a:ln w="19050">
              <a:noFill/>
            </a:ln>
          </c:spPr>
          <c:marker>
            <c:symbol val="triangle"/>
            <c:size val="18"/>
            <c:spPr>
              <a:solidFill>
                <a:srgbClr val="0EA5E9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3.2</c:v>
              </c:pt>
            </c:numLit>
          </c:xVal>
          <c:yVal>
            <c:numLit>
              <c:formatCode>General</c:formatCode>
              <c:ptCount val="1"/>
              <c:pt idx="0">
                <c:v>3.75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3-DDCB-2841-83D3-2AF35F7336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scatterChart>
      <c:valAx>
        <c:axId val="111"/>
        <c:scaling>
          <c:orientation val="minMax"/>
          <c:max val="5"/>
          <c:min val="1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400" b="1">
                    <a:solidFill>
                      <a:srgbClr val="0E2145"/>
                    </a:solidFill>
                  </a:defRPr>
                </a:pPr>
                <a:r>
                  <a:rPr lang="en-US" sz="1400" b="1">
                    <a:solidFill>
                      <a:srgbClr val="0E2145"/>
                    </a:solidFill>
                  </a:rPr>
                  <a:t>Likelihood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34155"/>
                </a:solidFill>
              </a:defRPr>
            </a:pPr>
            <a:endParaRPr lang="en-US"/>
          </a:p>
        </c:txPr>
        <c:crossAx val="222"/>
        <c:crosses val="autoZero"/>
        <c:crossBetween val="midCat"/>
        <c:majorUnit val="1"/>
      </c:valAx>
      <c:valAx>
        <c:axId val="222"/>
        <c:scaling>
          <c:orientation val="minMax"/>
          <c:max val="5"/>
          <c:min val="1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400" b="1">
                    <a:solidFill>
                      <a:srgbClr val="0E2145"/>
                    </a:solidFill>
                  </a:defRPr>
                </a:pPr>
                <a:r>
                  <a:rPr lang="en-US" sz="1400" b="1">
                    <a:solidFill>
                      <a:srgbClr val="0E2145"/>
                    </a:solidFill>
                  </a:rPr>
                  <a:t>Impact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34155"/>
                </a:solidFill>
              </a:defRPr>
            </a:pPr>
            <a:endParaRPr lang="en-US"/>
          </a:p>
        </c:txPr>
        <c:crossAx val="111"/>
        <c:crosses val="autoZero"/>
        <c:crossBetween val="midCat"/>
        <c:majorUnit val="1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92080-12AB-984F-BE13-81129A928AD3}" type="datetimeFigureOut">
              <a:rPr lang="en-DE" smtClean="0"/>
              <a:t>03.09.26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9B4F01-7B8A-0F40-8351-0F87F1B8D4E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35882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I'm Anand — this is the HEMS / Heat Pump Copilot, my Ironhack AI capstone, presented as a consulting package.</a:t>
            </a:r>
          </a:p>
          <a:p>
            <a:r>
              <a:rPr lang="en-US" dirty="0"/>
              <a:t>Frame it in one line: an AI advisory copilot that helps heat-pump installers tell a real hardware fault from a connectivity issue.</a:t>
            </a:r>
          </a:p>
          <a:p>
            <a:r>
              <a:rPr lang="en-US" dirty="0"/>
              <a:t>Say what Round 2 adds over Round 1: a working MVP app, real RAG, tracing, and an automated quality check.</a:t>
            </a:r>
          </a:p>
          <a:p>
            <a:r>
              <a:rPr lang="en-US" dirty="0"/>
              <a:t>Set expectations: ~15 minutes, live demo in the middle, and a specific ask at the end.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insight: two completely different problems present with identical symptoms — a real hardware fault vs. a HEMS connectivity/pairing issue.</a:t>
            </a:r>
          </a:p>
          <a:p>
            <a:r>
              <a:rPr lang="en-US" dirty="0"/>
              <a:t>Installers can't separate them from symptoms alone. This is documented industry-wide, not a Chleo-specific bug — say that explicitly.</a:t>
            </a:r>
          </a:p>
          <a:p>
            <a:r>
              <a:rPr lang="en-US" dirty="0"/>
              <a:t>The expensive failure mode is the false hardware-fault dispatch: a technician and parts sent for something that needed no visit.</a:t>
            </a:r>
          </a:p>
          <a:p>
            <a:r>
              <a:rPr lang="en-US" dirty="0"/>
              <a:t>Right-hand numbers answer 'why not just hire more installers': ~12,000 SHK trained per year vs ~35,000 needed; 2024 sales ~193,000, down 46% against the 500,000/yr target.</a:t>
            </a:r>
          </a:p>
          <a:p>
            <a:r>
              <a:rPr lang="en-US" dirty="0"/>
              <a:t>Land the conclusion: a capacity multiplier for existing installers beats a hiring plan the labour market cannot supply.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product, three modes — reactive, preventive, predictive. Say it in that order, it maps to the three cards.</a:t>
            </a:r>
          </a:p>
          <a:p>
            <a:r>
              <a:rPr lang="en-US" dirty="0"/>
              <a:t>Mode 1, Fault Triage, is the flagship and the one you'll see in the demo: fault code or free-text symptom in, classification plus fix guidance or escalation out.</a:t>
            </a:r>
          </a:p>
          <a:p>
            <a:r>
              <a:rPr lang="en-US" dirty="0"/>
              <a:t>Mode 2, Commissioning Checker, is preventive — it confirms commissioning steps were completed before an installer signs the job off.</a:t>
            </a:r>
          </a:p>
          <a:p>
            <a:r>
              <a:rPr lang="en-US" dirty="0"/>
              <a:t>Mode 3, COP-Drop Early Warning, is predictive — flags a unit drifting off its seasonal COP baseline before anyone reports a fault.</a:t>
            </a:r>
          </a:p>
          <a:p>
            <a:r>
              <a:rPr lang="en-US" dirty="0"/>
              <a:t>Key framing: all three are advisory. The installer stays the decision-maker — that's what keeps the compliance footprint light (comes back on slide 11).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Round 1 — the POC. Built on n8n + Telegram deliberately: fastest way to test the interaction pattern before building an app.</a:t>
            </a:r>
          </a:p>
          <a:p>
            <a:r>
              <a:rPr lang="en-US" dirty="0"/>
              <a:t>Card 1: 13 fault codes resolved by deterministic lookup — instant, no API cost, fully auditable. Deterministic-first is a design principle, not a shortcut.</a:t>
            </a:r>
          </a:p>
          <a:p>
            <a:r>
              <a:rPr lang="en-US" dirty="0"/>
              <a:t>Card 2: free-text symptoms were grounded by keyword matching against Vaillant and Octopus documentation — grounded, but crude. Round 2 replaces this with real retrieval.</a:t>
            </a:r>
          </a:p>
          <a:p>
            <a:r>
              <a:rPr lang="en-US" dirty="0"/>
              <a:t>Card 3: anything the lookup didn't cover went to an OpenAI classification, replying in the installer's own language.</a:t>
            </a:r>
          </a:p>
          <a:p>
            <a:r>
              <a:rPr lang="en-US" dirty="0"/>
              <a:t>Card 4: it was live-demoable on Telegram, which is how the interaction pattern got validated cheaply.</a:t>
            </a:r>
          </a:p>
          <a:p>
            <a:r>
              <a:rPr lang="en-US" dirty="0"/>
              <a:t>Footer strip: every reply carried 'AI-suggested triage — confirm before acting'. Advisory by design from day one.</a:t>
            </a:r>
          </a:p>
          <a:p>
            <a:r>
              <a:rPr lang="en-US" dirty="0"/>
              <a:t>Bridge to next slide: 'this worked, but keyword matching isn't retrieval and Telegram isn't a product.'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column reads as before to after — five upgrades from POC to MVP. Walk down it, one line each.</a:t>
            </a:r>
          </a:p>
          <a:p>
            <a:r>
              <a:rPr lang="en-US" dirty="0"/>
              <a:t>Keyword matching became real RAG: OpenAI embeddings plus Pinecone vector search over the manual knowledge base.</a:t>
            </a:r>
          </a:p>
          <a:p>
            <a:r>
              <a:rPr lang="en-US" dirty="0"/>
              <a:t>Telegram became a single Streamlit app with all three modes, runnable with one command.</a:t>
            </a:r>
          </a:p>
          <a:p>
            <a:r>
              <a:rPr lang="en-US" dirty="0"/>
              <a:t>Tracing stopped being a placeholder: every interaction is now traced live in LangSmith.</a:t>
            </a:r>
          </a:p>
          <a:p>
            <a:r>
              <a:rPr lang="en-US" dirty="0"/>
              <a:t>16 offline unit tests verify the deterministic logic with zero API keys — the logic is testable without spending money.</a:t>
            </a:r>
          </a:p>
          <a:p>
            <a:r>
              <a:rPr lang="en-US" dirty="0"/>
              <a:t>New in this round: LLM-as-judge. A second, independent LLM call scores each real trace for correctness and hallucination, 0 to 1, and posts both scores back onto the trace in LangSmith.</a:t>
            </a:r>
          </a:p>
          <a:p>
            <a:r>
              <a:rPr lang="en-US" dirty="0"/>
              <a:t>Right panel is the runtime path: fault-code lookup first (instant, free), then Pinecone similarity search, then a grounded OpenAI answer, then the structured result with the confirm-before-acting label, then the judge.</a:t>
            </a:r>
          </a:p>
          <a:p>
            <a:r>
              <a:rPr lang="en-US" dirty="0"/>
              <a:t>Punchline: the loop is closed — embed, retrieve, answer, and automatically check for hallucination. That is what makes it maintainable, not just demoable.</a:t>
            </a:r>
          </a:p>
          <a:p>
            <a:r>
              <a:rPr lang="en-US" dirty="0"/>
              <a:t>If asked for detail: the script is mvp/scripts/judge_traces.py, and it judges real classify_symptom traces from actual queries, not canned examples.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 define pilot success — this is the slide the sponsor will remember.</a:t>
            </a:r>
          </a:p>
          <a:p>
            <a:r>
              <a:rPr lang="en-US" dirty="0"/>
              <a:t>First-visit fix rate: 69.1% baseline to 79.1% target, a 10 percentage-point gain. 'pp' means percentage points, i.e. absolute, not relative.</a:t>
            </a:r>
          </a:p>
          <a:p>
            <a:r>
              <a:rPr lang="en-US" dirty="0"/>
              <a:t>False hardware-fault rate: 10.9% down to 5.9% or better — 5 percentage points, roughly a 46% relative reduction. This is the line that carries most of the ROI.</a:t>
            </a:r>
          </a:p>
          <a:p>
            <a:r>
              <a:rPr lang="en-US" dirty="0"/>
              <a:t>Time-to-classification: under 30 seconds, against manual triage today, so there is no baseline to beat — it's a new measurement.</a:t>
            </a:r>
          </a:p>
          <a:p>
            <a:r>
              <a:rPr lang="en-US" dirty="0"/>
              <a:t>Be upfront: baselines come from the Round 1 synthetic-data model. These are pilot-validation targets, not audited results.</a:t>
            </a:r>
          </a:p>
          <a:p>
            <a:r>
              <a:rPr lang="en-US" dirty="0"/>
              <a:t>Green band answers 'how would we know': every interaction traced in LangSmith, the judge scores correctness and hallucination, and it stays advisory — the installer confirms every call.</a:t>
            </a:r>
          </a:p>
          <a:p>
            <a:r>
              <a:rPr lang="en-US" dirty="0"/>
              <a:t>Bridge: these three targets are exactly what the ROI case is built 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case: about 241% ROI in year one, about 1,198% over 36 months, break-even roughly 3.5 to 4 months into the pilot, on a combined build cost of about €20,150.</a:t>
            </a:r>
          </a:p>
          <a:p>
            <a:r>
              <a:rPr lang="en-US" dirty="0"/>
              <a:t>Say the formula plainly: net benefit divided by total cost, times 100. Full assumptions live in roi_risk_assessment.md.</a:t>
            </a:r>
          </a:p>
          <a:p>
            <a:r>
              <a:rPr lang="en-US" dirty="0"/>
              <a:t>Where the value comes from: avoided false hardware-fault dispatches plus avoided second visits — with a deliberate 70% realization factor, so the model is not assuming everything lands.</a:t>
            </a:r>
          </a:p>
          <a:p>
            <a:r>
              <a:rPr lang="en-US" dirty="0"/>
              <a:t>Caveat it before anyone else does: these are gross operational cost-avoidance figures off a synthetic-data baseline. They are pilot-validation targets, not audited financials.</a:t>
            </a:r>
          </a:p>
          <a:p>
            <a:r>
              <a:rPr lang="en-US" dirty="0"/>
              <a:t>If challenged on the ROI size: the driver is that a false dispatch is expensive and the build cost is small — the ratio is large because the denominator is €20k, not because the benefit is heroic.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of eight risks shown; the full matrix has 8 risks across 4 categories. L = likelihood, I = impact, both 1-5.</a:t>
            </a:r>
          </a:p>
          <a:p>
            <a:r>
              <a:rPr lang="en-US" dirty="0"/>
              <a:t>Regulatory: EU AI Act boundary risk — low likelihood, highest impact. Mitigation is the advisory-only design plus a legal gate before any change to that boundary.</a:t>
            </a:r>
          </a:p>
          <a:p>
            <a:r>
              <a:rPr lang="en-US" dirty="0"/>
              <a:t>Technical: LLM misclassification — mitigated by deterministic-first routing, safe-default escalation, and human confirmation. The system's default when unsure is to escalate, not to guess.</a:t>
            </a:r>
          </a:p>
          <a:p>
            <a:r>
              <a:rPr lang="en-US" dirty="0"/>
              <a:t>Ethical: automation bias — installers trusting it too much. Mitigated by the persistent disclaimer, training, and tracking override rate as a KPI.</a:t>
            </a:r>
          </a:p>
          <a:p>
            <a:r>
              <a:rPr lang="en-US" dirty="0"/>
              <a:t>Operational: low adoption — this is the one that actually kills internal tools. Mitigated with champions, an adoption KPI, and keeping interaction to a simple chat.</a:t>
            </a:r>
          </a:p>
          <a:p>
            <a:r>
              <a:rPr lang="en-US" dirty="0"/>
              <a:t>If asked which risk worries you most, say adoption — the technology works, behaviour change is the harder part.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under the EU AI Act this is Limited Risk — and I can show the reasoning, not just the label.</a:t>
            </a:r>
          </a:p>
          <a:p>
            <a:r>
              <a:rPr lang="en-US" dirty="0"/>
              <a:t>Not prohibited under Article 5: no manipulation, no biometric data.</a:t>
            </a:r>
          </a:p>
          <a:p>
            <a:r>
              <a:rPr lang="en-US" dirty="0"/>
              <a:t>Not high-risk under Annex I: it is not a safety component of the appliance — it advises a human, it does not control the unit.</a:t>
            </a:r>
          </a:p>
          <a:p>
            <a:r>
              <a:rPr lang="en-US" dirty="0"/>
              <a:t>Not high-risk under Annex III either, and I reasoned explicitly against the closest calls: critical infrastructure and employment.</a:t>
            </a:r>
          </a:p>
          <a:p>
            <a:r>
              <a:rPr lang="en-US" dirty="0"/>
              <a:t>So the only obligation is the Article 50 transparency disclosure — already implemented as the label on every answer.</a:t>
            </a:r>
          </a:p>
          <a:p>
            <a:r>
              <a:rPr lang="en-US" dirty="0"/>
              <a:t>Right-hand box is the important part for a sceptical reviewer: the boundary. If a future version auto-triggered a shutdown, bypassed technician confirmation, or scored individual installer performance, classification gets re-run. It is not assumed to still hold.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a change of state: today there is no personal data in this system at all — Round 1 and the Round 2 MVP run on public and synthetic data.</a:t>
            </a:r>
          </a:p>
          <a:p>
            <a:r>
              <a:rPr lang="en-US" dirty="0"/>
              <a:t>The pilot is what introduces installer-identifiable data: chat content and job records. Legal basis is legitimate interest.</a:t>
            </a:r>
          </a:p>
          <a:p>
            <a:r>
              <a:rPr lang="en-US" dirty="0"/>
              <a:t>A short DPIA is already done on the highest-risk activity, free-text chat. Residual risk assessed as low, with DPO review recommended before go-live — that recommendation is part of the ask on slide 15.</a:t>
            </a:r>
          </a:p>
          <a:p>
            <a:r>
              <a:rPr lang="en-US" dirty="0"/>
              <a:t>Article 22 on automated decision-making does not apply: the system classifies equipment, not people.</a:t>
            </a:r>
          </a:p>
          <a:p>
            <a:r>
              <a:rPr lang="en-US" dirty="0"/>
              <a:t>Third-party transfers — OpenAI, Pinecone, LangSmith — all have EU-region or SCC-based options. Emphasise: this is configuration, not redesign.</a:t>
            </a:r>
          </a:p>
          <a:p>
            <a:r>
              <a:rPr lang="en-US" dirty="0"/>
              <a:t>If pressed: nothing here is blocking the pilot, it just needs legal sign-off before go-live rather than after.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phases. Two are already done — Phase 0 POC (Round 1) and Phase 1 MVP / internal validation (Round 2, what you just saw).</a:t>
            </a:r>
          </a:p>
          <a:p>
            <a:r>
              <a:rPr lang="en-US" dirty="0"/>
              <a:t>Phase 2 is the pilot: October 2026 to January 2027, 12 weeks, with real installers.</a:t>
            </a:r>
          </a:p>
          <a:p>
            <a:r>
              <a:rPr lang="en-US" dirty="0"/>
              <a:t>Phase 3 is full deployment, March to August 2027, phased by region. Phase 4 scale in 2028 is optional, not assumed.</a:t>
            </a:r>
          </a:p>
          <a:p>
            <a:r>
              <a:rPr lang="en-US" dirty="0"/>
              <a:t>The important line is the gate at the bottom: moving from pilot to full deployment requires ALL five conditions — at least 7pp first-visit-fix gain, at least 3pp false-hardware-fault reduction, at least 60% sustained adoption, zero compliance incidents, and net-positive installer feedback.</a:t>
            </a:r>
          </a:p>
          <a:p>
            <a:r>
              <a:rPr lang="en-US" dirty="0"/>
              <a:t>Note the gate thresholds are deliberately lower than the slide-8 targets — targets are what we aim for, the gate is the minimum that justifies scaling.</a:t>
            </a:r>
          </a:p>
          <a:p>
            <a:r>
              <a:rPr lang="en-US" dirty="0"/>
              <a:t>Say it plainly: this is a decision gate, not an open-ended commitment.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very different commercial stories — be clear which one you're asking for today. Today's ask is only the left-hand one.</a:t>
            </a:r>
          </a:p>
          <a:p>
            <a:r>
              <a:rPr lang="en-US" dirty="0"/>
              <a:t>Phases 1 to 3: internal cost avoidance. The buyer is Chleo funding its own field-ops budget; users are own and partner SHK installers. No external sale needed for this to pay back.</a:t>
            </a:r>
          </a:p>
          <a:p>
            <a:r>
              <a:rPr lang="en-US" dirty="0"/>
              <a:t>Differentiators worth saying out loud: grounded in Chleo's own manuals, deterministic-first for speed and cost, advisory-only for a light compliance footprint.</a:t>
            </a:r>
          </a:p>
          <a:p>
            <a:r>
              <a:rPr lang="en-US" dirty="0"/>
              <a:t>Phase 4 is optional licensing: the installer shortage is EU-wide, not Germany-only, so the same tool white-labels to other small and medium manufacturers.</a:t>
            </a:r>
          </a:p>
          <a:p>
            <a:r>
              <a:rPr lang="en-US" dirty="0"/>
              <a:t>Indicative pricing: flat onboarding fee plus €15-25 per installer per month — deliberately below the per-installer value in the ROI model.</a:t>
            </a:r>
          </a:p>
          <a:p>
            <a:r>
              <a:rPr lang="en-US" dirty="0"/>
              <a:t>Caveat: Phase 4 is an option, not a plan. It needs the pilot to work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thank them, then hold the room for questions rather than filling silence.</a:t>
            </a:r>
          </a:p>
          <a:p>
            <a:r>
              <a:rPr lang="en-US" dirty="0"/>
              <a:t>One-line recap if needed: two problems that look identical, an advisory copilot that separates them, a working MVP with a closed quality loop, and a 12-week pilot to prove it.</a:t>
            </a:r>
          </a:p>
          <a:p>
            <a:r>
              <a:rPr lang="en-US" dirty="0"/>
              <a:t>Repo link is on the slide if anyone wants the code, the DPIA, the ROI model or the strategic plan.</a:t>
            </a:r>
          </a:p>
          <a:p>
            <a:r>
              <a:rPr lang="en-US" dirty="0"/>
              <a:t>Likely questions to be ready for: why not fine-tune a model (cost, and retrieval is auditable); what if the LLM is wrong (deterministic-first, safe-default escalation, human confirmation, judge scores); why installers would adopt it (chat, no new tool to learn, adoption tracked as a KPI); why the ROI looks so high (small denominator, 70% realization factor, synthetic baseline).</a:t>
            </a:r>
          </a:p>
          <a:p>
            <a:r>
              <a:rPr lang="en-US" dirty="0"/>
              <a:t>If asked what's next technically: expand the manual knowledge base and run the judge over a larger trace set to get a real hallucination-rate baseline.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000" b="1" i="0" dirty="0">
                <a:solidFill>
                  <a:srgbClr val="8CB8FF"/>
                </a:solidFill>
                <a:latin typeface="Calibri"/>
              </a:rPr>
              <a:t>AI Support for Heat Pumps Commissioning</a:t>
            </a:r>
            <a:endParaRPr sz="2000" b="1" i="0" dirty="0">
              <a:solidFill>
                <a:srgbClr val="8CB8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  <a:latin typeface="Calibri"/>
              </a:rPr>
              <a:t>The HEMS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 dirty="0">
                <a:solidFill>
                  <a:srgbClr val="FFFFFF"/>
                </a:solidFill>
                <a:latin typeface="Calibri"/>
              </a:rPr>
              <a:t>Consulting Package, MVP &amp; Deployment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5E3F5"/>
                </a:solidFill>
                <a:latin typeface="Calibri"/>
              </a:rPr>
              <a:t>Anand Narasipuram · Ironhack AI Capstone</a:t>
            </a:r>
          </a:p>
        </p:txBody>
      </p:sp>
    </p:spTree>
    <p:extLst>
      <p:ext uri="{BB962C8B-B14F-4D97-AF65-F5344CB8AC3E}">
        <p14:creationId xmlns:p14="http://schemas.microsoft.com/office/powerpoint/2010/main" val="2624433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Two field problems that look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A genuine hardware fault requiring a certified technician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A HEMS connectivity/pairing/app issue that needs no hardware visit at all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Installers cannot reliably tell them apart from symptoms alone — a documented, industry-wide ambiguity, not a Chleo-specific bug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The costliest failure: a false hardware-fault dispatch — an unneeded parts/technician visit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Why the company can't just hire more installers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Germany trains ~12,000 SHK tradespeople/yr against ~35,000/yr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6M-heat-pump-by-2030 target needs a ~50% installer-workforce uplift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2024 sales: ~193,000 (down 46% vs. target of 500,000/yr)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A capacity multiplier for existing installers beats a hiring plan the labor market can't supply</a:t>
            </a:r>
          </a:p>
        </p:txBody>
      </p:sp>
    </p:spTree>
    <p:extLst>
      <p:ext uri="{BB962C8B-B14F-4D97-AF65-F5344CB8AC3E}">
        <p14:creationId xmlns:p14="http://schemas.microsoft.com/office/powerpoint/2010/main" val="1141545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One copilot, four integrated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1400" name="Capability"/>
          <p:cNvSpPr txBox="1"/>
          <p:nvPr/>
        </p:nvSpPr>
        <p:spPr>
          <a:xfrm>
            <a:off x="635000" y="1422400"/>
            <a:ext cx="1089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2563EB"/>
                </a:solidFill>
                <a:latin typeface="Calibri"/>
              </a:rPr>
              <a:t>AI capability: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deterministic lookup + RAG + classification  —  text in, structured triage out</a:t>
            </a:r>
          </a:p>
        </p:txBody>
      </p:sp>
      <p:sp>
        <p:nvSpPr>
          <p:cNvPr id="1700" name="M1700"/>
          <p:cNvSpPr txBox="1"/>
          <p:nvPr/>
        </p:nvSpPr>
        <p:spPr>
          <a:xfrm>
            <a:off x="6350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1" name="M1701"/>
          <p:cNvSpPr txBox="1"/>
          <p:nvPr/>
        </p:nvSpPr>
        <p:spPr>
          <a:xfrm>
            <a:off x="6350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2" name="M1702"/>
          <p:cNvSpPr txBox="1"/>
          <p:nvPr/>
        </p:nvSpPr>
        <p:spPr>
          <a:xfrm>
            <a:off x="8636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Fault Triage Copilot</a:t>
            </a:r>
          </a:p>
        </p:txBody>
      </p:sp>
      <p:sp>
        <p:nvSpPr>
          <p:cNvPr id="1703" name="M1703"/>
          <p:cNvSpPr txBox="1"/>
          <p:nvPr/>
        </p:nvSpPr>
        <p:spPr>
          <a:xfrm>
            <a:off x="8636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Reactive — the flagship</a:t>
            </a:r>
          </a:p>
        </p:txBody>
      </p:sp>
      <p:sp>
        <p:nvSpPr>
          <p:cNvPr id="1704" name="M1704"/>
          <p:cNvSpPr txBox="1"/>
          <p:nvPr/>
        </p:nvSpPr>
        <p:spPr>
          <a:xfrm>
            <a:off x="8636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Fault code or symptom → hardware, connectivity or installer-error class → fix guidance or escalation</a:t>
            </a:r>
          </a:p>
        </p:txBody>
      </p:sp>
      <p:sp>
        <p:nvSpPr>
          <p:cNvPr id="1705" name="M1705"/>
          <p:cNvSpPr txBox="1"/>
          <p:nvPr/>
        </p:nvSpPr>
        <p:spPr>
          <a:xfrm>
            <a:off x="34036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6" name="M1706"/>
          <p:cNvSpPr txBox="1"/>
          <p:nvPr/>
        </p:nvSpPr>
        <p:spPr>
          <a:xfrm>
            <a:off x="34036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7" name="M1707"/>
          <p:cNvSpPr txBox="1"/>
          <p:nvPr/>
        </p:nvSpPr>
        <p:spPr>
          <a:xfrm>
            <a:off x="36322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Commissioning Checker</a:t>
            </a:r>
          </a:p>
        </p:txBody>
      </p:sp>
      <p:sp>
        <p:nvSpPr>
          <p:cNvPr id="1708" name="M1708"/>
          <p:cNvSpPr txBox="1"/>
          <p:nvPr/>
        </p:nvSpPr>
        <p:spPr>
          <a:xfrm>
            <a:off x="36322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Preventive</a:t>
            </a:r>
          </a:p>
        </p:txBody>
      </p:sp>
      <p:sp>
        <p:nvSpPr>
          <p:cNvPr id="1709" name="M1709"/>
          <p:cNvSpPr txBox="1"/>
          <p:nvPr/>
        </p:nvSpPr>
        <p:spPr>
          <a:xfrm>
            <a:off x="36322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Confirms commissioning steps were completed before an installer signs a job off</a:t>
            </a:r>
          </a:p>
        </p:txBody>
      </p:sp>
      <p:sp>
        <p:nvSpPr>
          <p:cNvPr id="1710" name="M1710"/>
          <p:cNvSpPr txBox="1"/>
          <p:nvPr/>
        </p:nvSpPr>
        <p:spPr>
          <a:xfrm>
            <a:off x="61722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1" name="M1711"/>
          <p:cNvSpPr txBox="1"/>
          <p:nvPr/>
        </p:nvSpPr>
        <p:spPr>
          <a:xfrm>
            <a:off x="61722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2" name="M1712"/>
          <p:cNvSpPr txBox="1"/>
          <p:nvPr/>
        </p:nvSpPr>
        <p:spPr>
          <a:xfrm>
            <a:off x="64008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COP-Drop Early-Warning</a:t>
            </a:r>
          </a:p>
        </p:txBody>
      </p:sp>
      <p:sp>
        <p:nvSpPr>
          <p:cNvPr id="1713" name="M1713"/>
          <p:cNvSpPr txBox="1"/>
          <p:nvPr/>
        </p:nvSpPr>
        <p:spPr>
          <a:xfrm>
            <a:off x="64008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Predictive</a:t>
            </a:r>
          </a:p>
        </p:txBody>
      </p:sp>
      <p:sp>
        <p:nvSpPr>
          <p:cNvPr id="1714" name="M1714"/>
          <p:cNvSpPr txBox="1"/>
          <p:nvPr/>
        </p:nvSpPr>
        <p:spPr>
          <a:xfrm>
            <a:off x="64008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Flags a unit likely to fail before anyone reports a fault, using seasonal COP baselines</a:t>
            </a:r>
          </a:p>
        </p:txBody>
      </p:sp>
      <p:sp>
        <p:nvSpPr>
          <p:cNvPr id="1715" name="M1715"/>
          <p:cNvSpPr txBox="1"/>
          <p:nvPr/>
        </p:nvSpPr>
        <p:spPr>
          <a:xfrm>
            <a:off x="89408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6" name="M1716"/>
          <p:cNvSpPr txBox="1"/>
          <p:nvPr/>
        </p:nvSpPr>
        <p:spPr>
          <a:xfrm>
            <a:off x="8940800" y="1778000"/>
            <a:ext cx="2590800" cy="889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7" name="M1717"/>
          <p:cNvSpPr txBox="1"/>
          <p:nvPr/>
        </p:nvSpPr>
        <p:spPr>
          <a:xfrm>
            <a:off x="91694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Installed Fleet Overview</a:t>
            </a:r>
          </a:p>
        </p:txBody>
      </p:sp>
      <p:sp>
        <p:nvSpPr>
          <p:cNvPr id="1718" name="M1718"/>
          <p:cNvSpPr txBox="1"/>
          <p:nvPr/>
        </p:nvSpPr>
        <p:spPr>
          <a:xfrm>
            <a:off x="91694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Oversight — new in the MVP</a:t>
            </a:r>
          </a:p>
        </p:txBody>
      </p:sp>
      <p:sp>
        <p:nvSpPr>
          <p:cNvPr id="1719" name="M1719"/>
          <p:cNvSpPr txBox="1"/>
          <p:nvPr/>
        </p:nvSpPr>
        <p:spPr>
          <a:xfrm>
            <a:off x="91694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One view of every installed unit and its current status across the fleet</a:t>
            </a:r>
          </a:p>
        </p:txBody>
      </p:sp>
    </p:spTree>
    <p:extLst>
      <p:ext uri="{BB962C8B-B14F-4D97-AF65-F5344CB8AC3E}">
        <p14:creationId xmlns:p14="http://schemas.microsoft.com/office/powerpoint/2010/main" val="2354371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POC DEMO  ·  ROUND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The POC: n8n + Telegram, keyword-grounded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6350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1" name="Shape 101"/>
          <p:cNvSpPr txBox="1"/>
          <p:nvPr/>
        </p:nvSpPr>
        <p:spPr>
          <a:xfrm>
            <a:off x="8636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2" name="Shape 102"/>
          <p:cNvSpPr txBox="1"/>
          <p:nvPr/>
        </p:nvSpPr>
        <p:spPr>
          <a:xfrm>
            <a:off x="7112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13 fault codes</a:t>
            </a:r>
          </a:p>
        </p:txBody>
      </p:sp>
      <p:sp>
        <p:nvSpPr>
          <p:cNvPr id="103" name="Shape 103"/>
          <p:cNvSpPr txBox="1"/>
          <p:nvPr/>
        </p:nvSpPr>
        <p:spPr>
          <a:xfrm>
            <a:off x="7112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Resolved instantly by lookup. Zero API cost, fully auditable.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3401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5" name="Shape 105"/>
          <p:cNvSpPr txBox="1"/>
          <p:nvPr/>
        </p:nvSpPr>
        <p:spPr>
          <a:xfrm>
            <a:off x="35687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6" name="Shape 106"/>
          <p:cNvSpPr txBox="1"/>
          <p:nvPr/>
        </p:nvSpPr>
        <p:spPr>
          <a:xfrm>
            <a:off x="34163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Grounded answers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34163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Keyword-matched to Vaillant + Octopus manuals.</a:t>
            </a:r>
          </a:p>
        </p:txBody>
      </p:sp>
      <p:sp>
        <p:nvSpPr>
          <p:cNvPr id="108" name="Shape 108"/>
          <p:cNvSpPr txBox="1"/>
          <p:nvPr/>
        </p:nvSpPr>
        <p:spPr>
          <a:xfrm>
            <a:off x="60452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9" name="Shape 109"/>
          <p:cNvSpPr txBox="1"/>
          <p:nvPr/>
        </p:nvSpPr>
        <p:spPr>
          <a:xfrm>
            <a:off x="62738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0" name="Shape 110"/>
          <p:cNvSpPr txBox="1"/>
          <p:nvPr/>
        </p:nvSpPr>
        <p:spPr>
          <a:xfrm>
            <a:off x="61214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Any language</a:t>
            </a:r>
          </a:p>
        </p:txBody>
      </p:sp>
      <p:sp>
        <p:nvSpPr>
          <p:cNvPr id="111" name="Shape 111"/>
          <p:cNvSpPr txBox="1"/>
          <p:nvPr/>
        </p:nvSpPr>
        <p:spPr>
          <a:xfrm>
            <a:off x="61214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LLM fallback for free-text symptoms, replies in kind.</a:t>
            </a:r>
          </a:p>
        </p:txBody>
      </p:sp>
      <p:sp>
        <p:nvSpPr>
          <p:cNvPr id="112" name="Shape 112"/>
          <p:cNvSpPr txBox="1"/>
          <p:nvPr/>
        </p:nvSpPr>
        <p:spPr>
          <a:xfrm>
            <a:off x="87503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3" name="Shape 113"/>
          <p:cNvSpPr txBox="1"/>
          <p:nvPr/>
        </p:nvSpPr>
        <p:spPr>
          <a:xfrm>
            <a:off x="89789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4" name="Shape 114"/>
          <p:cNvSpPr txBox="1"/>
          <p:nvPr/>
        </p:nvSpPr>
        <p:spPr>
          <a:xfrm>
            <a:off x="88265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Live on Telegram</a:t>
            </a:r>
          </a:p>
        </p:txBody>
      </p:sp>
      <p:sp>
        <p:nvSpPr>
          <p:cNvPr id="115" name="Shape 115"/>
          <p:cNvSpPr txBox="1"/>
          <p:nvPr/>
        </p:nvSpPr>
        <p:spPr>
          <a:xfrm>
            <a:off x="88265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Pattern proven in real time — before any app build.</a:t>
            </a:r>
          </a:p>
        </p:txBody>
      </p:sp>
      <p:sp>
        <p:nvSpPr>
          <p:cNvPr id="116" name="Shape 116"/>
          <p:cNvSpPr txBox="1"/>
          <p:nvPr/>
        </p:nvSpPr>
        <p:spPr>
          <a:xfrm>
            <a:off x="635000" y="5207000"/>
            <a:ext cx="10604500" cy="711200"/>
          </a:xfrm>
          <a:prstGeom prst="roundRect">
            <a:avLst>
              <a:gd name="adj" fmla="val 8000"/>
            </a:avLst>
          </a:prstGeom>
          <a:solidFill>
            <a:srgbClr val="0E2145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8CB8FF"/>
                </a:solidFill>
                <a:latin typeface="Calibri"/>
              </a:rPr>
              <a:t>Advisory by design  ·  </a:t>
            </a:r>
            <a:r>
              <a:rPr lang="en-US" sz="1600" dirty="0">
                <a:solidFill>
                  <a:srgbClr val="FFFFFF"/>
                </a:solidFill>
                <a:latin typeface="Calibri"/>
              </a:rPr>
              <a:t>every reply labelled “AI-suggested triage — confirm before acting”</a:t>
            </a:r>
          </a:p>
        </p:txBody>
      </p:sp>
      <p:pic>
        <p:nvPicPr>
          <p:cNvPr id="117" name="Graphic 117" descr="Fault code looku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600" y="2260600"/>
            <a:ext cx="584200" cy="584200"/>
          </a:xfrm>
          <a:prstGeom prst="rect">
            <a:avLst/>
          </a:prstGeom>
        </p:spPr>
      </p:pic>
      <p:pic>
        <p:nvPicPr>
          <p:cNvPr id="118" name="Graphic 118" descr="Manual knowledge b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8700" y="2260600"/>
            <a:ext cx="584200" cy="584200"/>
          </a:xfrm>
          <a:prstGeom prst="rect">
            <a:avLst/>
          </a:prstGeom>
        </p:spPr>
      </p:pic>
      <p:pic>
        <p:nvPicPr>
          <p:cNvPr id="119" name="Graphic 119" descr="Multilingual repl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3800" y="2260600"/>
            <a:ext cx="584200" cy="584200"/>
          </a:xfrm>
          <a:prstGeom prst="rect">
            <a:avLst/>
          </a:prstGeom>
        </p:spPr>
      </p:pic>
      <p:pic>
        <p:nvPicPr>
          <p:cNvPr id="120" name="Graphic 120" descr="Telegram de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8900" y="2260600"/>
            <a:ext cx="584200" cy="584200"/>
          </a:xfrm>
          <a:prstGeom prst="rect">
            <a:avLst/>
          </a:prstGeom>
        </p:spPr>
      </p:pic>
      <p:sp>
        <p:nvSpPr>
          <p:cNvPr id="1250" name="Bridge50"/>
          <p:cNvSpPr txBox="1"/>
          <p:nvPr/>
        </p:nvSpPr>
        <p:spPr>
          <a:xfrm>
            <a:off x="635000" y="1473200"/>
            <a:ext cx="711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0" i="1" dirty="0">
                <a:solidFill>
                  <a:srgbClr val="334155"/>
                </a:solidFill>
                <a:latin typeface="Calibri"/>
              </a:rPr>
              <a:t>Since Round 1: same industry, same use case — what changed is depth, not direction.</a:t>
            </a:r>
          </a:p>
        </p:txBody>
      </p:sp>
      <p:sp>
        <p:nvSpPr>
          <p:cNvPr id="1820" name="Bridge620"/>
          <p:cNvSpPr txBox="1"/>
          <p:nvPr/>
        </p:nvSpPr>
        <p:spPr>
          <a:xfrm>
            <a:off x="7874000" y="1473200"/>
            <a:ext cx="33655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500" b="1" i="0" dirty="0">
                <a:solidFill>
                  <a:srgbClr val="2563EB"/>
                </a:solidFill>
                <a:latin typeface="Calibri"/>
              </a:rPr>
              <a:t>▶  Recorded run: n8n + Telegram</a:t>
            </a:r>
          </a:p>
        </p:txBody>
      </p:sp>
    </p:spTree>
    <p:extLst>
      <p:ext uri="{BB962C8B-B14F-4D97-AF65-F5344CB8AC3E}">
        <p14:creationId xmlns:p14="http://schemas.microsoft.com/office/powerpoint/2010/main" val="3873220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MVP DEMO  ·  ROUND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The upgrade: real RAG, one working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What changed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How a message gets answered</a:t>
            </a:r>
          </a:p>
        </p:txBody>
      </p:sp>
      <p:sp>
        <p:nvSpPr>
          <p:cNvPr id="400" name="Shape 400"/>
          <p:cNvSpPr txBox="1"/>
          <p:nvPr/>
        </p:nvSpPr>
        <p:spPr>
          <a:xfrm>
            <a:off x="635000" y="21590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Keyword match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Embeddings + Pinecone RAG</a:t>
            </a:r>
          </a:p>
        </p:txBody>
      </p:sp>
      <p:sp>
        <p:nvSpPr>
          <p:cNvPr id="401" name="Shape 401"/>
          <p:cNvSpPr txBox="1"/>
          <p:nvPr/>
        </p:nvSpPr>
        <p:spPr>
          <a:xfrm>
            <a:off x="635000" y="28829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Telegram bot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One Streamlit app, 3 modes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635000" y="36068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No tracing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LangSmith live traces</a:t>
            </a:r>
          </a:p>
        </p:txBody>
      </p:sp>
      <p:sp>
        <p:nvSpPr>
          <p:cNvPr id="403" name="Shape 403"/>
          <p:cNvSpPr txBox="1"/>
          <p:nvPr/>
        </p:nvSpPr>
        <p:spPr>
          <a:xfrm>
            <a:off x="635000" y="43307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Untested logic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16 offline unit tests</a:t>
            </a:r>
          </a:p>
        </p:txBody>
      </p:sp>
      <p:sp>
        <p:nvSpPr>
          <p:cNvPr id="404" name="Shape 404"/>
          <p:cNvSpPr txBox="1"/>
          <p:nvPr/>
        </p:nvSpPr>
        <p:spPr>
          <a:xfrm>
            <a:off x="635000" y="50546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No quality check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LLM-as-judge on real traces</a:t>
            </a:r>
          </a:p>
        </p:txBody>
      </p:sp>
      <p:sp>
        <p:nvSpPr>
          <p:cNvPr id="405" name="Shape 405"/>
          <p:cNvSpPr txBox="1"/>
          <p:nvPr/>
        </p:nvSpPr>
        <p:spPr>
          <a:xfrm>
            <a:off x="6489700" y="215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Fault-code lookup — instant, free</a:t>
            </a:r>
          </a:p>
        </p:txBody>
      </p:sp>
      <p:sp>
        <p:nvSpPr>
          <p:cNvPr id="406" name="Shape 406"/>
          <p:cNvSpPr txBox="1"/>
          <p:nvPr/>
        </p:nvSpPr>
        <p:spPr>
          <a:xfrm>
            <a:off x="6642100" y="2273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7" name="Shape 407"/>
          <p:cNvSpPr txBox="1"/>
          <p:nvPr/>
        </p:nvSpPr>
        <p:spPr>
          <a:xfrm rot="10800000">
            <a:off x="6654800" y="2679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08" name="Shape 408"/>
          <p:cNvSpPr txBox="1"/>
          <p:nvPr/>
        </p:nvSpPr>
        <p:spPr>
          <a:xfrm>
            <a:off x="6489700" y="2794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Pinecone similarity search</a:t>
            </a:r>
          </a:p>
        </p:txBody>
      </p:sp>
      <p:sp>
        <p:nvSpPr>
          <p:cNvPr id="409" name="Shape 409"/>
          <p:cNvSpPr txBox="1"/>
          <p:nvPr/>
        </p:nvSpPr>
        <p:spPr>
          <a:xfrm>
            <a:off x="6642100" y="2908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0" name="Shape 410"/>
          <p:cNvSpPr txBox="1"/>
          <p:nvPr/>
        </p:nvSpPr>
        <p:spPr>
          <a:xfrm rot="10800000">
            <a:off x="6654800" y="3314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1" name="Shape 411"/>
          <p:cNvSpPr txBox="1"/>
          <p:nvPr/>
        </p:nvSpPr>
        <p:spPr>
          <a:xfrm>
            <a:off x="6489700" y="342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OpenAI answer, grounded in the excerpt</a:t>
            </a:r>
          </a:p>
        </p:txBody>
      </p:sp>
      <p:sp>
        <p:nvSpPr>
          <p:cNvPr id="412" name="Shape 412"/>
          <p:cNvSpPr txBox="1"/>
          <p:nvPr/>
        </p:nvSpPr>
        <p:spPr>
          <a:xfrm>
            <a:off x="6642100" y="3543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3" name="Shape 413"/>
          <p:cNvSpPr txBox="1"/>
          <p:nvPr/>
        </p:nvSpPr>
        <p:spPr>
          <a:xfrm rot="10800000">
            <a:off x="6654800" y="3949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4" name="Shape 414"/>
          <p:cNvSpPr txBox="1"/>
          <p:nvPr/>
        </p:nvSpPr>
        <p:spPr>
          <a:xfrm>
            <a:off x="6489700" y="4064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Structured result + “confirm before acting”</a:t>
            </a:r>
          </a:p>
        </p:txBody>
      </p:sp>
      <p:sp>
        <p:nvSpPr>
          <p:cNvPr id="415" name="Shape 415"/>
          <p:cNvSpPr txBox="1"/>
          <p:nvPr/>
        </p:nvSpPr>
        <p:spPr>
          <a:xfrm>
            <a:off x="6642100" y="4178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6" name="Shape 416"/>
          <p:cNvSpPr txBox="1"/>
          <p:nvPr/>
        </p:nvSpPr>
        <p:spPr>
          <a:xfrm rot="10800000">
            <a:off x="6654800" y="4584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7" name="Shape 417"/>
          <p:cNvSpPr txBox="1"/>
          <p:nvPr/>
        </p:nvSpPr>
        <p:spPr>
          <a:xfrm>
            <a:off x="6489700" y="469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0E2145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Second LLM judges it: correctness + hallucination</a:t>
            </a:r>
          </a:p>
        </p:txBody>
      </p:sp>
      <p:sp>
        <p:nvSpPr>
          <p:cNvPr id="418" name="Shape 418"/>
          <p:cNvSpPr txBox="1"/>
          <p:nvPr/>
        </p:nvSpPr>
        <p:spPr>
          <a:xfrm>
            <a:off x="6642100" y="4813300"/>
            <a:ext cx="279400" cy="279400"/>
          </a:xfrm>
          <a:prstGeom prst="ellipse">
            <a:avLst/>
          </a:prstGeom>
          <a:solidFill>
            <a:srgbClr val="8CB8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9" name="Shape 419"/>
          <p:cNvSpPr txBox="1"/>
          <p:nvPr/>
        </p:nvSpPr>
        <p:spPr>
          <a:xfrm>
            <a:off x="6489700" y="5384800"/>
            <a:ext cx="4749800" cy="431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Scores post back onto each LangSmith trace — loop closed</a:t>
            </a:r>
          </a:p>
        </p:txBody>
      </p:sp>
      <p:sp>
        <p:nvSpPr>
          <p:cNvPr id="1300" name="Demo1300"/>
          <p:cNvSpPr txBox="1"/>
          <p:nvPr/>
        </p:nvSpPr>
        <p:spPr>
          <a:xfrm>
            <a:off x="635000" y="5689600"/>
            <a:ext cx="5207000" cy="482600"/>
          </a:xfrm>
          <a:prstGeom prst="roundRect">
            <a:avLst>
              <a:gd name="adj" fmla="val 12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▶  LIVE DEMO  ·  mvp/app.py</a:t>
            </a:r>
          </a:p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Fault Triage  ·  Commissioning Checker  ·  COP-Drop</a:t>
            </a:r>
          </a:p>
        </p:txBody>
      </p:sp>
    </p:spTree>
    <p:extLst>
      <p:ext uri="{BB962C8B-B14F-4D97-AF65-F5344CB8AC3E}">
        <p14:creationId xmlns:p14="http://schemas.microsoft.com/office/powerpoint/2010/main" val="712775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Success criteria (pilot targets)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500" name="Shape 500"/>
          <p:cNvSpPr txBox="1"/>
          <p:nvPr/>
        </p:nvSpPr>
        <p:spPr>
          <a:xfrm>
            <a:off x="6350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1" name="Shape 501"/>
          <p:cNvSpPr txBox="1"/>
          <p:nvPr/>
        </p:nvSpPr>
        <p:spPr>
          <a:xfrm>
            <a:off x="9144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2" name="Shape 502"/>
          <p:cNvSpPr txBox="1"/>
          <p:nvPr/>
        </p:nvSpPr>
        <p:spPr>
          <a:xfrm>
            <a:off x="7620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First-visit fix rate</a:t>
            </a:r>
          </a:p>
        </p:txBody>
      </p:sp>
      <p:sp>
        <p:nvSpPr>
          <p:cNvPr id="503" name="Shape 503"/>
          <p:cNvSpPr txBox="1"/>
          <p:nvPr/>
        </p:nvSpPr>
        <p:spPr>
          <a:xfrm>
            <a:off x="7620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79.1%</a:t>
            </a:r>
          </a:p>
        </p:txBody>
      </p:sp>
      <p:sp>
        <p:nvSpPr>
          <p:cNvPr id="504" name="Shape 504"/>
          <p:cNvSpPr txBox="1"/>
          <p:nvPr/>
        </p:nvSpPr>
        <p:spPr>
          <a:xfrm>
            <a:off x="7620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Baseline 69.1%</a:t>
            </a:r>
          </a:p>
        </p:txBody>
      </p:sp>
      <p:sp>
        <p:nvSpPr>
          <p:cNvPr id="505" name="Shape 505"/>
          <p:cNvSpPr txBox="1"/>
          <p:nvPr/>
        </p:nvSpPr>
        <p:spPr>
          <a:xfrm>
            <a:off x="9144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+10 pp</a:t>
            </a:r>
          </a:p>
        </p:txBody>
      </p:sp>
      <p:sp>
        <p:nvSpPr>
          <p:cNvPr id="506" name="Shape 506"/>
          <p:cNvSpPr txBox="1"/>
          <p:nvPr/>
        </p:nvSpPr>
        <p:spPr>
          <a:xfrm>
            <a:off x="43561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7" name="Shape 507"/>
          <p:cNvSpPr txBox="1"/>
          <p:nvPr/>
        </p:nvSpPr>
        <p:spPr>
          <a:xfrm>
            <a:off x="46355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8" name="Shape 508"/>
          <p:cNvSpPr txBox="1"/>
          <p:nvPr/>
        </p:nvSpPr>
        <p:spPr>
          <a:xfrm>
            <a:off x="44831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False hardware-fault rate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44831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≤ 5.9%</a:t>
            </a:r>
          </a:p>
        </p:txBody>
      </p:sp>
      <p:sp>
        <p:nvSpPr>
          <p:cNvPr id="510" name="Shape 510"/>
          <p:cNvSpPr txBox="1"/>
          <p:nvPr/>
        </p:nvSpPr>
        <p:spPr>
          <a:xfrm>
            <a:off x="44831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Baseline 10.9%</a:t>
            </a:r>
          </a:p>
        </p:txBody>
      </p:sp>
      <p:sp>
        <p:nvSpPr>
          <p:cNvPr id="511" name="Shape 511"/>
          <p:cNvSpPr txBox="1"/>
          <p:nvPr/>
        </p:nvSpPr>
        <p:spPr>
          <a:xfrm>
            <a:off x="46355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−5 pp</a:t>
            </a:r>
          </a:p>
        </p:txBody>
      </p:sp>
      <p:sp>
        <p:nvSpPr>
          <p:cNvPr id="512" name="Shape 512"/>
          <p:cNvSpPr txBox="1"/>
          <p:nvPr/>
        </p:nvSpPr>
        <p:spPr>
          <a:xfrm>
            <a:off x="80772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3" name="Shape 513"/>
          <p:cNvSpPr txBox="1"/>
          <p:nvPr/>
        </p:nvSpPr>
        <p:spPr>
          <a:xfrm>
            <a:off x="83566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4" name="Shape 514"/>
          <p:cNvSpPr txBox="1"/>
          <p:nvPr/>
        </p:nvSpPr>
        <p:spPr>
          <a:xfrm>
            <a:off x="82042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Time-to-classification</a:t>
            </a:r>
          </a:p>
        </p:txBody>
      </p:sp>
      <p:sp>
        <p:nvSpPr>
          <p:cNvPr id="515" name="Shape 515"/>
          <p:cNvSpPr txBox="1"/>
          <p:nvPr/>
        </p:nvSpPr>
        <p:spPr>
          <a:xfrm>
            <a:off x="82042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&lt; 30 s</a:t>
            </a:r>
          </a:p>
        </p:txBody>
      </p:sp>
      <p:sp>
        <p:nvSpPr>
          <p:cNvPr id="516" name="Shape 516"/>
          <p:cNvSpPr txBox="1"/>
          <p:nvPr/>
        </p:nvSpPr>
        <p:spPr>
          <a:xfrm>
            <a:off x="82042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Today: manual triage</a:t>
            </a:r>
          </a:p>
        </p:txBody>
      </p:sp>
      <p:sp>
        <p:nvSpPr>
          <p:cNvPr id="517" name="Shape 517"/>
          <p:cNvSpPr txBox="1"/>
          <p:nvPr/>
        </p:nvSpPr>
        <p:spPr>
          <a:xfrm>
            <a:off x="83566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635000" y="4800600"/>
            <a:ext cx="10896600" cy="1168400"/>
          </a:xfrm>
          <a:prstGeom prst="roundRect">
            <a:avLst>
              <a:gd name="adj" fmla="val 10000"/>
            </a:avLst>
          </a:prstGeom>
          <a:solidFill>
            <a:srgbClr val="0E2145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9" name="Shape 519"/>
          <p:cNvSpPr txBox="1"/>
          <p:nvPr/>
        </p:nvSpPr>
        <p:spPr>
          <a:xfrm>
            <a:off x="939800" y="4978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HOW WE’LL PROVE IT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9398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Every interaction traced end-to-end in LangSmith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45720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LLM-as-judge scores correctness + hallucination</a:t>
            </a:r>
          </a:p>
        </p:txBody>
      </p:sp>
      <p:sp>
        <p:nvSpPr>
          <p:cNvPr id="522" name="Shape 522"/>
          <p:cNvSpPr txBox="1"/>
          <p:nvPr/>
        </p:nvSpPr>
        <p:spPr>
          <a:xfrm>
            <a:off x="82042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Advisory only — the installer confirms every call</a:t>
            </a:r>
          </a:p>
        </p:txBody>
      </p:sp>
    </p:spTree>
    <p:extLst>
      <p:ext uri="{BB962C8B-B14F-4D97-AF65-F5344CB8AC3E}">
        <p14:creationId xmlns:p14="http://schemas.microsoft.com/office/powerpoint/2010/main" val="1437535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ROI — central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241%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Year 1 ROI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1,198%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36-month 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~3.5–4 months into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Break-even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€20,150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Combined build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B6664"/>
                </a:solidFill>
                <a:latin typeface="Calibri"/>
              </a:rPr>
              <a:t>ROI = (Net Benefit / Total Cost) × 100 — full assumptions table in roi_risk_assessment.md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Value = avoided false-hardware-fault dispatches + avoided second visits, at a stated 70% realization factor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Figures are gross operational cost avoidance from a synthetic-data baseline — pilot-validation targets, not audited financials</a:t>
            </a:r>
          </a:p>
        </p:txBody>
      </p:sp>
    </p:spTree>
    <p:extLst>
      <p:ext uri="{BB962C8B-B14F-4D97-AF65-F5344CB8AC3E}">
        <p14:creationId xmlns:p14="http://schemas.microsoft.com/office/powerpoint/2010/main" val="2135215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Top risks (full matrix: 8 risks, 4 categories)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150" name="Risk chart"/>
          <p:cNvGraphicFramePr/>
          <p:nvPr/>
        </p:nvGraphicFramePr>
        <p:xfrm>
          <a:off x="482600" y="1600200"/>
          <a:ext cx="7366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0" name="S400"/>
          <p:cNvSpPr txBox="1"/>
          <p:nvPr/>
        </p:nvSpPr>
        <p:spPr>
          <a:xfrm>
            <a:off x="8026400" y="1651000"/>
            <a:ext cx="350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MITIGATION</a:t>
            </a:r>
          </a:p>
        </p:txBody>
      </p:sp>
      <p:sp>
        <p:nvSpPr>
          <p:cNvPr id="401" name="S401"/>
          <p:cNvSpPr txBox="1"/>
          <p:nvPr/>
        </p:nvSpPr>
        <p:spPr>
          <a:xfrm>
            <a:off x="8026400" y="20320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2" name="S402"/>
          <p:cNvSpPr txBox="1"/>
          <p:nvPr/>
        </p:nvSpPr>
        <p:spPr>
          <a:xfrm>
            <a:off x="8026400" y="2032000"/>
            <a:ext cx="63500" cy="838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3" name="S403"/>
          <p:cNvSpPr txBox="1"/>
          <p:nvPr/>
        </p:nvSpPr>
        <p:spPr>
          <a:xfrm>
            <a:off x="8229600" y="20320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Advisory-only by design + legal gate</a:t>
            </a:r>
          </a:p>
        </p:txBody>
      </p:sp>
      <p:sp>
        <p:nvSpPr>
          <p:cNvPr id="404" name="S404"/>
          <p:cNvSpPr txBox="1"/>
          <p:nvPr/>
        </p:nvSpPr>
        <p:spPr>
          <a:xfrm>
            <a:off x="8026400" y="30226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5" name="S405"/>
          <p:cNvSpPr txBox="1"/>
          <p:nvPr/>
        </p:nvSpPr>
        <p:spPr>
          <a:xfrm>
            <a:off x="8026400" y="3022600"/>
            <a:ext cx="63500" cy="8382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6" name="S406"/>
          <p:cNvSpPr txBox="1"/>
          <p:nvPr/>
        </p:nvSpPr>
        <p:spPr>
          <a:xfrm>
            <a:off x="8229600" y="30226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Deterministic-first, safe-default escalation</a:t>
            </a:r>
          </a:p>
        </p:txBody>
      </p:sp>
      <p:sp>
        <p:nvSpPr>
          <p:cNvPr id="407" name="S407"/>
          <p:cNvSpPr txBox="1"/>
          <p:nvPr/>
        </p:nvSpPr>
        <p:spPr>
          <a:xfrm>
            <a:off x="8026400" y="40132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8" name="S408"/>
          <p:cNvSpPr txBox="1"/>
          <p:nvPr/>
        </p:nvSpPr>
        <p:spPr>
          <a:xfrm>
            <a:off x="8026400" y="4013200"/>
            <a:ext cx="63500" cy="838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9" name="S409"/>
          <p:cNvSpPr txBox="1"/>
          <p:nvPr/>
        </p:nvSpPr>
        <p:spPr>
          <a:xfrm>
            <a:off x="8229600" y="40132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Disclaimer, training, override-rate KPI</a:t>
            </a:r>
          </a:p>
        </p:txBody>
      </p:sp>
      <p:sp>
        <p:nvSpPr>
          <p:cNvPr id="410" name="S410"/>
          <p:cNvSpPr txBox="1"/>
          <p:nvPr/>
        </p:nvSpPr>
        <p:spPr>
          <a:xfrm>
            <a:off x="8026400" y="50038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11" name="S411"/>
          <p:cNvSpPr txBox="1"/>
          <p:nvPr/>
        </p:nvSpPr>
        <p:spPr>
          <a:xfrm>
            <a:off x="8026400" y="5003800"/>
            <a:ext cx="63500" cy="838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12" name="S412"/>
          <p:cNvSpPr txBox="1"/>
          <p:nvPr/>
        </p:nvSpPr>
        <p:spPr>
          <a:xfrm>
            <a:off x="8229600" y="50038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Champions, adoption KPI, chat-only UX</a:t>
            </a:r>
          </a:p>
        </p:txBody>
      </p:sp>
      <p:sp>
        <p:nvSpPr>
          <p:cNvPr id="460" name="Chart note"/>
          <p:cNvSpPr txBox="1"/>
          <p:nvPr/>
        </p:nvSpPr>
        <p:spPr>
          <a:xfrm>
            <a:off x="635000" y="58674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i="1" dirty="0">
                <a:solidFill>
                  <a:srgbClr val="334155"/>
                </a:solidFill>
                <a:latin typeface="Calibri"/>
              </a:rPr>
              <a:t>Three risks score 3×4 — markers offset slightly so all remain visible.</a:t>
            </a:r>
          </a:p>
        </p:txBody>
      </p:sp>
    </p:spTree>
    <p:extLst>
      <p:ext uri="{BB962C8B-B14F-4D97-AF65-F5344CB8AC3E}">
        <p14:creationId xmlns:p14="http://schemas.microsoft.com/office/powerpoint/2010/main" val="3143237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EU AI Act — Limited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023360" cy="914400"/>
          </a:xfrm>
          <a:prstGeom prst="rect">
            <a:avLst/>
          </a:prstGeom>
          <a:solidFill>
            <a:srgbClr val="3E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LIMITED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Not prohibited (Art. 5) — no manipulation, no biometric data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Not high-risk under Annex I — not a safety component of the appliance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Not high-risk under Annex III — reasoned explicitly against the closest calls (critical infrastructure, employment)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→ Only obligation: Art. 50 transparency disclosure — already implemented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212080" cy="3975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The boundary that would change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634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34155"/>
                </a:solidFill>
                <a:latin typeface="Calibri"/>
              </a:rPr>
              <a:t>If a future version were wired to auto-trigger a shutdown/lockout, bypass a technician's confirmation, or evaluate individual installer performance — reclassification is re-run before any such change, not assumed to still hold.</a:t>
            </a:r>
          </a:p>
        </p:txBody>
      </p:sp>
      <p:sp>
        <p:nvSpPr>
          <p:cNvPr id="1500" name="Verdict1500"/>
          <p:cNvSpPr txBox="1"/>
          <p:nvPr/>
        </p:nvSpPr>
        <p:spPr>
          <a:xfrm>
            <a:off x="635000" y="5867400"/>
            <a:ext cx="76200" cy="30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501" name="Verdict1501"/>
          <p:cNvSpPr txBox="1"/>
          <p:nvPr/>
        </p:nvSpPr>
        <p:spPr>
          <a:xfrm>
            <a:off x="838200" y="5867400"/>
            <a:ext cx="1069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Deployable compliantly: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limited risk holds, Art. 50 disclosure shipped — one gap left: DPO sign-off on the DPIA.</a:t>
            </a:r>
          </a:p>
        </p:txBody>
      </p:sp>
    </p:spTree>
    <p:extLst>
      <p:ext uri="{BB962C8B-B14F-4D97-AF65-F5344CB8AC3E}">
        <p14:creationId xmlns:p14="http://schemas.microsoft.com/office/powerpoint/2010/main" val="3883422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GDPR — what changes at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Round 1 + Round 2 MVP: public/synthetic data only — no real personal data processed today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Pilot introduces installer-identifiable data (chat content, job records) — legal basis: legitimate interest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Short DPIA completed on the highest-risk activity (free-text chat) — residual risk: low, DPO review recommended before go-live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Art. 22 (automated decision-making) does not apply — the system classifies equipment, not people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›  Third-party transfers: OpenAI, Pinecone, LangSmith — all have EU-region or SCC-based options; config, not redesign</a:t>
            </a:r>
          </a:p>
        </p:txBody>
      </p:sp>
    </p:spTree>
    <p:extLst>
      <p:ext uri="{BB962C8B-B14F-4D97-AF65-F5344CB8AC3E}">
        <p14:creationId xmlns:p14="http://schemas.microsoft.com/office/powerpoint/2010/main" val="2055968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STRATEGIC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POC → Pilot → Full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00" name="R800"/>
          <p:cNvSpPr txBox="1"/>
          <p:nvPr/>
        </p:nvSpPr>
        <p:spPr>
          <a:xfrm>
            <a:off x="1778000" y="3632200"/>
            <a:ext cx="8636000" cy="508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1" name="R801"/>
          <p:cNvSpPr txBox="1"/>
          <p:nvPr/>
        </p:nvSpPr>
        <p:spPr>
          <a:xfrm>
            <a:off x="1778000" y="3632200"/>
            <a:ext cx="21590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2" name="R802"/>
          <p:cNvSpPr txBox="1"/>
          <p:nvPr/>
        </p:nvSpPr>
        <p:spPr>
          <a:xfrm>
            <a:off x="1562100" y="3441700"/>
            <a:ext cx="431800" cy="431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3" name="R803"/>
          <p:cNvSpPr txBox="1"/>
          <p:nvPr/>
        </p:nvSpPr>
        <p:spPr>
          <a:xfrm>
            <a:off x="1765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4" name="R804"/>
          <p:cNvSpPr txBox="1"/>
          <p:nvPr/>
        </p:nvSpPr>
        <p:spPr>
          <a:xfrm>
            <a:off x="660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5" name="R805"/>
          <p:cNvSpPr txBox="1"/>
          <p:nvPr/>
        </p:nvSpPr>
        <p:spPr>
          <a:xfrm>
            <a:off x="762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0  ·  DONE</a:t>
            </a:r>
          </a:p>
        </p:txBody>
      </p:sp>
      <p:sp>
        <p:nvSpPr>
          <p:cNvPr id="806" name="R806"/>
          <p:cNvSpPr txBox="1"/>
          <p:nvPr/>
        </p:nvSpPr>
        <p:spPr>
          <a:xfrm>
            <a:off x="762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POC</a:t>
            </a:r>
          </a:p>
        </p:txBody>
      </p:sp>
      <p:sp>
        <p:nvSpPr>
          <p:cNvPr id="807" name="R807"/>
          <p:cNvSpPr txBox="1"/>
          <p:nvPr/>
        </p:nvSpPr>
        <p:spPr>
          <a:xfrm>
            <a:off x="762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Round 1</a:t>
            </a:r>
          </a:p>
        </p:txBody>
      </p:sp>
      <p:sp>
        <p:nvSpPr>
          <p:cNvPr id="808" name="R808"/>
          <p:cNvSpPr txBox="1"/>
          <p:nvPr/>
        </p:nvSpPr>
        <p:spPr>
          <a:xfrm>
            <a:off x="3721100" y="3441700"/>
            <a:ext cx="431800" cy="431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9" name="R809"/>
          <p:cNvSpPr txBox="1"/>
          <p:nvPr/>
        </p:nvSpPr>
        <p:spPr>
          <a:xfrm>
            <a:off x="3924300" y="38735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0" name="R810"/>
          <p:cNvSpPr txBox="1"/>
          <p:nvPr/>
        </p:nvSpPr>
        <p:spPr>
          <a:xfrm>
            <a:off x="2819400" y="42672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1" name="R811"/>
          <p:cNvSpPr txBox="1"/>
          <p:nvPr/>
        </p:nvSpPr>
        <p:spPr>
          <a:xfrm>
            <a:off x="2921000" y="438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1  ·  DONE</a:t>
            </a:r>
          </a:p>
        </p:txBody>
      </p:sp>
      <p:sp>
        <p:nvSpPr>
          <p:cNvPr id="812" name="R812"/>
          <p:cNvSpPr txBox="1"/>
          <p:nvPr/>
        </p:nvSpPr>
        <p:spPr>
          <a:xfrm>
            <a:off x="2921000" y="46355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MVP validation</a:t>
            </a:r>
          </a:p>
        </p:txBody>
      </p:sp>
      <p:sp>
        <p:nvSpPr>
          <p:cNvPr id="813" name="R813"/>
          <p:cNvSpPr txBox="1"/>
          <p:nvPr/>
        </p:nvSpPr>
        <p:spPr>
          <a:xfrm>
            <a:off x="2921000" y="5156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Round 2</a:t>
            </a:r>
          </a:p>
        </p:txBody>
      </p:sp>
      <p:sp>
        <p:nvSpPr>
          <p:cNvPr id="814" name="R814"/>
          <p:cNvSpPr txBox="1"/>
          <p:nvPr/>
        </p:nvSpPr>
        <p:spPr>
          <a:xfrm>
            <a:off x="5880100" y="3441700"/>
            <a:ext cx="431800" cy="431800"/>
          </a:xfrm>
          <a:prstGeom prst="ellipse">
            <a:avLst/>
          </a:prstGeom>
          <a:solidFill>
            <a:srgbClr val="0E214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5" name="R815"/>
          <p:cNvSpPr txBox="1"/>
          <p:nvPr/>
        </p:nvSpPr>
        <p:spPr>
          <a:xfrm>
            <a:off x="6083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6" name="R816"/>
          <p:cNvSpPr txBox="1"/>
          <p:nvPr/>
        </p:nvSpPr>
        <p:spPr>
          <a:xfrm>
            <a:off x="4978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7" name="R817"/>
          <p:cNvSpPr txBox="1"/>
          <p:nvPr/>
        </p:nvSpPr>
        <p:spPr>
          <a:xfrm>
            <a:off x="5080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PHASE 2  ·  NEXT</a:t>
            </a:r>
          </a:p>
        </p:txBody>
      </p:sp>
      <p:sp>
        <p:nvSpPr>
          <p:cNvPr id="818" name="R818"/>
          <p:cNvSpPr txBox="1"/>
          <p:nvPr/>
        </p:nvSpPr>
        <p:spPr>
          <a:xfrm>
            <a:off x="5080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819" name="R819"/>
          <p:cNvSpPr txBox="1"/>
          <p:nvPr/>
        </p:nvSpPr>
        <p:spPr>
          <a:xfrm>
            <a:off x="5080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D6E4F8"/>
                </a:solidFill>
                <a:latin typeface="Calibri"/>
              </a:rPr>
              <a:t>Oct 2026 – Jan 2027</a:t>
            </a:r>
          </a:p>
        </p:txBody>
      </p:sp>
      <p:sp>
        <p:nvSpPr>
          <p:cNvPr id="820" name="R820"/>
          <p:cNvSpPr txBox="1"/>
          <p:nvPr/>
        </p:nvSpPr>
        <p:spPr>
          <a:xfrm>
            <a:off x="8039100" y="3441700"/>
            <a:ext cx="431800" cy="431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D9BD6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334155"/>
                </a:solidFill>
                <a:latin typeface="Calibri"/>
              </a:rPr>
              <a:t>4</a:t>
            </a:r>
          </a:p>
        </p:txBody>
      </p:sp>
      <p:sp>
        <p:nvSpPr>
          <p:cNvPr id="821" name="R821"/>
          <p:cNvSpPr txBox="1"/>
          <p:nvPr/>
        </p:nvSpPr>
        <p:spPr>
          <a:xfrm>
            <a:off x="8242300" y="38735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2" name="R822"/>
          <p:cNvSpPr txBox="1"/>
          <p:nvPr/>
        </p:nvSpPr>
        <p:spPr>
          <a:xfrm>
            <a:off x="7137400" y="42672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3" name="R823"/>
          <p:cNvSpPr txBox="1"/>
          <p:nvPr/>
        </p:nvSpPr>
        <p:spPr>
          <a:xfrm>
            <a:off x="7239000" y="438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3</a:t>
            </a:r>
          </a:p>
        </p:txBody>
      </p:sp>
      <p:sp>
        <p:nvSpPr>
          <p:cNvPr id="824" name="R824"/>
          <p:cNvSpPr txBox="1"/>
          <p:nvPr/>
        </p:nvSpPr>
        <p:spPr>
          <a:xfrm>
            <a:off x="7239000" y="46355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Full deployment</a:t>
            </a:r>
          </a:p>
        </p:txBody>
      </p:sp>
      <p:sp>
        <p:nvSpPr>
          <p:cNvPr id="825" name="R825"/>
          <p:cNvSpPr txBox="1"/>
          <p:nvPr/>
        </p:nvSpPr>
        <p:spPr>
          <a:xfrm>
            <a:off x="7239000" y="5156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Mar – Aug 2027</a:t>
            </a:r>
          </a:p>
        </p:txBody>
      </p:sp>
      <p:sp>
        <p:nvSpPr>
          <p:cNvPr id="826" name="R826"/>
          <p:cNvSpPr txBox="1"/>
          <p:nvPr/>
        </p:nvSpPr>
        <p:spPr>
          <a:xfrm>
            <a:off x="10198100" y="3441700"/>
            <a:ext cx="431800" cy="431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D9BD6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334155"/>
                </a:solidFill>
                <a:latin typeface="Calibri"/>
              </a:rPr>
              <a:t>5</a:t>
            </a:r>
          </a:p>
        </p:txBody>
      </p:sp>
      <p:sp>
        <p:nvSpPr>
          <p:cNvPr id="827" name="R827"/>
          <p:cNvSpPr txBox="1"/>
          <p:nvPr/>
        </p:nvSpPr>
        <p:spPr>
          <a:xfrm>
            <a:off x="10401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8" name="R828"/>
          <p:cNvSpPr txBox="1"/>
          <p:nvPr/>
        </p:nvSpPr>
        <p:spPr>
          <a:xfrm>
            <a:off x="9296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9" name="R829"/>
          <p:cNvSpPr txBox="1"/>
          <p:nvPr/>
        </p:nvSpPr>
        <p:spPr>
          <a:xfrm>
            <a:off x="9398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4</a:t>
            </a:r>
          </a:p>
        </p:txBody>
      </p:sp>
      <p:sp>
        <p:nvSpPr>
          <p:cNvPr id="830" name="R830"/>
          <p:cNvSpPr txBox="1"/>
          <p:nvPr/>
        </p:nvSpPr>
        <p:spPr>
          <a:xfrm>
            <a:off x="9398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Scale</a:t>
            </a:r>
          </a:p>
        </p:txBody>
      </p:sp>
      <p:sp>
        <p:nvSpPr>
          <p:cNvPr id="831" name="R831"/>
          <p:cNvSpPr txBox="1"/>
          <p:nvPr/>
        </p:nvSpPr>
        <p:spPr>
          <a:xfrm>
            <a:off x="9398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2028+ optional</a:t>
            </a:r>
          </a:p>
        </p:txBody>
      </p:sp>
      <p:sp>
        <p:nvSpPr>
          <p:cNvPr id="832" name="R832"/>
          <p:cNvSpPr txBox="1"/>
          <p:nvPr/>
        </p:nvSpPr>
        <p:spPr>
          <a:xfrm>
            <a:off x="635000" y="5740400"/>
            <a:ext cx="10896600" cy="558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33" name="R833"/>
          <p:cNvSpPr txBox="1"/>
          <p:nvPr/>
        </p:nvSpPr>
        <p:spPr>
          <a:xfrm>
            <a:off x="635000" y="5740400"/>
            <a:ext cx="76200" cy="55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34" name="R834"/>
          <p:cNvSpPr txBox="1"/>
          <p:nvPr/>
        </p:nvSpPr>
        <p:spPr>
          <a:xfrm>
            <a:off x="889000" y="5816600"/>
            <a:ext cx="2717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Calibri"/>
              </a:rPr>
              <a:t>GATE TO PHASE 3</a:t>
            </a:r>
          </a:p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all five required</a:t>
            </a:r>
          </a:p>
        </p:txBody>
      </p:sp>
      <p:sp>
        <p:nvSpPr>
          <p:cNvPr id="835" name="R835"/>
          <p:cNvSpPr txBox="1"/>
          <p:nvPr/>
        </p:nvSpPr>
        <p:spPr>
          <a:xfrm>
            <a:off x="3733800" y="5816600"/>
            <a:ext cx="762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≥7pp fix rate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≥3pp fewer false faults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≥60% adoption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0 incidents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positive feedback</a:t>
            </a:r>
          </a:p>
        </p:txBody>
      </p:sp>
    </p:spTree>
    <p:extLst>
      <p:ext uri="{BB962C8B-B14F-4D97-AF65-F5344CB8AC3E}">
        <p14:creationId xmlns:p14="http://schemas.microsoft.com/office/powerpoint/2010/main" val="218808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From internal tool to (optional)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900" name="G900"/>
          <p:cNvSpPr txBox="1"/>
          <p:nvPr/>
        </p:nvSpPr>
        <p:spPr>
          <a:xfrm>
            <a:off x="635000" y="1676400"/>
            <a:ext cx="5308600" cy="429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1" name="G901"/>
          <p:cNvSpPr txBox="1"/>
          <p:nvPr/>
        </p:nvSpPr>
        <p:spPr>
          <a:xfrm>
            <a:off x="635000" y="1676400"/>
            <a:ext cx="5308600" cy="762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2" name="G902"/>
          <p:cNvSpPr txBox="1"/>
          <p:nvPr/>
        </p:nvSpPr>
        <p:spPr>
          <a:xfrm>
            <a:off x="965200" y="1981200"/>
            <a:ext cx="4648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PHASES 1–3  ·  TODAY’S ASK</a:t>
            </a:r>
          </a:p>
        </p:txBody>
      </p:sp>
      <p:sp>
        <p:nvSpPr>
          <p:cNvPr id="903" name="G903"/>
          <p:cNvSpPr txBox="1"/>
          <p:nvPr/>
        </p:nvSpPr>
        <p:spPr>
          <a:xfrm>
            <a:off x="965200" y="2286000"/>
            <a:ext cx="4648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>
                <a:solidFill>
                  <a:srgbClr val="0E2145"/>
                </a:solidFill>
                <a:latin typeface="Calibri"/>
              </a:rPr>
              <a:t>Internal cost avoidance</a:t>
            </a:r>
          </a:p>
        </p:txBody>
      </p:sp>
      <p:sp>
        <p:nvSpPr>
          <p:cNvPr id="904" name="G904"/>
          <p:cNvSpPr txBox="1"/>
          <p:nvPr/>
        </p:nvSpPr>
        <p:spPr>
          <a:xfrm>
            <a:off x="965200" y="2844800"/>
            <a:ext cx="685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5" name="G905"/>
          <p:cNvSpPr txBox="1"/>
          <p:nvPr/>
        </p:nvSpPr>
        <p:spPr>
          <a:xfrm>
            <a:off x="965200" y="30988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BUYER</a:t>
            </a:r>
          </a:p>
        </p:txBody>
      </p:sp>
      <p:sp>
        <p:nvSpPr>
          <p:cNvPr id="906" name="G906"/>
          <p:cNvSpPr txBox="1"/>
          <p:nvPr/>
        </p:nvSpPr>
        <p:spPr>
          <a:xfrm>
            <a:off x="965200" y="33528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Chleo — own field-ops budget</a:t>
            </a:r>
          </a:p>
        </p:txBody>
      </p:sp>
      <p:sp>
        <p:nvSpPr>
          <p:cNvPr id="907" name="G907"/>
          <p:cNvSpPr txBox="1"/>
          <p:nvPr/>
        </p:nvSpPr>
        <p:spPr>
          <a:xfrm>
            <a:off x="965200" y="40386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USERS</a:t>
            </a:r>
          </a:p>
        </p:txBody>
      </p:sp>
      <p:sp>
        <p:nvSpPr>
          <p:cNvPr id="908" name="G908"/>
          <p:cNvSpPr txBox="1"/>
          <p:nvPr/>
        </p:nvSpPr>
        <p:spPr>
          <a:xfrm>
            <a:off x="965200" y="42926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Own + partner SHK installers</a:t>
            </a:r>
          </a:p>
        </p:txBody>
      </p:sp>
      <p:sp>
        <p:nvSpPr>
          <p:cNvPr id="909" name="G909"/>
          <p:cNvSpPr txBox="1"/>
          <p:nvPr/>
        </p:nvSpPr>
        <p:spPr>
          <a:xfrm>
            <a:off x="965200" y="49784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EDGE</a:t>
            </a:r>
          </a:p>
        </p:txBody>
      </p:sp>
      <p:sp>
        <p:nvSpPr>
          <p:cNvPr id="910" name="G910"/>
          <p:cNvSpPr txBox="1"/>
          <p:nvPr/>
        </p:nvSpPr>
        <p:spPr>
          <a:xfrm>
            <a:off x="965200" y="52324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Own manuals, deterministic-first, advisory-only</a:t>
            </a:r>
          </a:p>
        </p:txBody>
      </p:sp>
      <p:sp>
        <p:nvSpPr>
          <p:cNvPr id="911" name="G911"/>
          <p:cNvSpPr txBox="1"/>
          <p:nvPr/>
        </p:nvSpPr>
        <p:spPr>
          <a:xfrm>
            <a:off x="6223000" y="1676400"/>
            <a:ext cx="5308600" cy="4292600"/>
          </a:xfrm>
          <a:prstGeom prst="roundRect">
            <a:avLst>
              <a:gd name="adj" fmla="val 8000"/>
            </a:avLst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2" name="G912"/>
          <p:cNvSpPr txBox="1"/>
          <p:nvPr/>
        </p:nvSpPr>
        <p:spPr>
          <a:xfrm>
            <a:off x="6223000" y="1676400"/>
            <a:ext cx="5308600" cy="76200"/>
          </a:xfrm>
          <a:prstGeom prst="rect">
            <a:avLst/>
          </a:prstGeom>
          <a:solidFill>
            <a:srgbClr val="8CB8F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3" name="G913"/>
          <p:cNvSpPr txBox="1"/>
          <p:nvPr/>
        </p:nvSpPr>
        <p:spPr>
          <a:xfrm>
            <a:off x="6553200" y="1981200"/>
            <a:ext cx="4648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PHASE 4  ·  OPTIONAL</a:t>
            </a:r>
          </a:p>
        </p:txBody>
      </p:sp>
      <p:sp>
        <p:nvSpPr>
          <p:cNvPr id="914" name="G914"/>
          <p:cNvSpPr txBox="1"/>
          <p:nvPr/>
        </p:nvSpPr>
        <p:spPr>
          <a:xfrm>
            <a:off x="6553200" y="2286000"/>
            <a:ext cx="4648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Licensing as a product</a:t>
            </a:r>
          </a:p>
        </p:txBody>
      </p:sp>
      <p:sp>
        <p:nvSpPr>
          <p:cNvPr id="915" name="G915"/>
          <p:cNvSpPr txBox="1"/>
          <p:nvPr/>
        </p:nvSpPr>
        <p:spPr>
          <a:xfrm>
            <a:off x="6553200" y="2844800"/>
            <a:ext cx="685800" cy="38100"/>
          </a:xfrm>
          <a:prstGeom prst="rect">
            <a:avLst/>
          </a:prstGeom>
          <a:solidFill>
            <a:srgbClr val="8CB8F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6" name="G916"/>
          <p:cNvSpPr txBox="1"/>
          <p:nvPr/>
        </p:nvSpPr>
        <p:spPr>
          <a:xfrm>
            <a:off x="6553200" y="30988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MARKET</a:t>
            </a:r>
          </a:p>
        </p:txBody>
      </p:sp>
      <p:sp>
        <p:nvSpPr>
          <p:cNvPr id="917" name="G917"/>
          <p:cNvSpPr txBox="1"/>
          <p:nvPr/>
        </p:nvSpPr>
        <p:spPr>
          <a:xfrm>
            <a:off x="6553200" y="33528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Installer shortage is EU-wide, not German</a:t>
            </a:r>
          </a:p>
        </p:txBody>
      </p:sp>
      <p:sp>
        <p:nvSpPr>
          <p:cNvPr id="918" name="G918"/>
          <p:cNvSpPr txBox="1"/>
          <p:nvPr/>
        </p:nvSpPr>
        <p:spPr>
          <a:xfrm>
            <a:off x="6553200" y="40386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MODEL</a:t>
            </a:r>
          </a:p>
        </p:txBody>
      </p:sp>
      <p:sp>
        <p:nvSpPr>
          <p:cNvPr id="919" name="G919"/>
          <p:cNvSpPr txBox="1"/>
          <p:nvPr/>
        </p:nvSpPr>
        <p:spPr>
          <a:xfrm>
            <a:off x="6553200" y="42926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White-label to small – mid manufacturers</a:t>
            </a:r>
          </a:p>
        </p:txBody>
      </p:sp>
      <p:sp>
        <p:nvSpPr>
          <p:cNvPr id="920" name="G920"/>
          <p:cNvSpPr txBox="1"/>
          <p:nvPr/>
        </p:nvSpPr>
        <p:spPr>
          <a:xfrm>
            <a:off x="6553200" y="49784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PRICE</a:t>
            </a:r>
          </a:p>
        </p:txBody>
      </p:sp>
      <p:sp>
        <p:nvSpPr>
          <p:cNvPr id="921" name="G921"/>
          <p:cNvSpPr txBox="1"/>
          <p:nvPr/>
        </p:nvSpPr>
        <p:spPr>
          <a:xfrm>
            <a:off x="6553200" y="52324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Onboarding fee + €15–25 / installer / month</a:t>
            </a:r>
          </a:p>
        </p:txBody>
      </p:sp>
    </p:spTree>
    <p:extLst>
      <p:ext uri="{BB962C8B-B14F-4D97-AF65-F5344CB8AC3E}">
        <p14:creationId xmlns:p14="http://schemas.microsoft.com/office/powerpoint/2010/main" val="4287895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D5E3F5"/>
                </a:solidFill>
                <a:latin typeface="Calibri"/>
              </a:rPr>
              <a:t>github.com/anandnarasipuram/Capstone-project-heat-pump-copilot-round-2</a:t>
            </a:r>
          </a:p>
        </p:txBody>
      </p:sp>
      <p:sp>
        <p:nvSpPr>
          <p:cNvPr id="1600" name="C1600"/>
          <p:cNvSpPr txBox="1"/>
          <p:nvPr/>
        </p:nvSpPr>
        <p:spPr>
          <a:xfrm>
            <a:off x="635000" y="381000"/>
            <a:ext cx="10896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IN CLOSING</a:t>
            </a:r>
          </a:p>
        </p:txBody>
      </p:sp>
      <p:sp>
        <p:nvSpPr>
          <p:cNvPr id="1601" name="C1601"/>
          <p:cNvSpPr txBox="1"/>
          <p:nvPr/>
        </p:nvSpPr>
        <p:spPr>
          <a:xfrm>
            <a:off x="635000" y="685800"/>
            <a:ext cx="10896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000" b="1" dirty="0">
                <a:solidFill>
                  <a:srgbClr val="FFFFFF"/>
                </a:solidFill>
                <a:latin typeface="Calibri"/>
              </a:rPr>
              <a:t>Worth the pilot, safe to run</a:t>
            </a:r>
          </a:p>
        </p:txBody>
      </p:sp>
      <p:sp>
        <p:nvSpPr>
          <p:cNvPr id="1602" name="C1602"/>
          <p:cNvSpPr txBox="1"/>
          <p:nvPr/>
        </p:nvSpPr>
        <p:spPr>
          <a:xfrm>
            <a:off x="635000" y="1320800"/>
            <a:ext cx="20066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3" name="C1603"/>
          <p:cNvSpPr txBox="1"/>
          <p:nvPr/>
        </p:nvSpPr>
        <p:spPr>
          <a:xfrm>
            <a:off x="635000" y="1600200"/>
            <a:ext cx="5308600" cy="13208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4" name="C1604"/>
          <p:cNvSpPr txBox="1"/>
          <p:nvPr/>
        </p:nvSpPr>
        <p:spPr>
          <a:xfrm>
            <a:off x="939800" y="1828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Calibri"/>
              </a:rPr>
              <a:t>BUSINESS VALUE</a:t>
            </a:r>
          </a:p>
        </p:txBody>
      </p:sp>
      <p:sp>
        <p:nvSpPr>
          <p:cNvPr id="1605" name="C1605"/>
          <p:cNvSpPr txBox="1"/>
          <p:nvPr/>
        </p:nvSpPr>
        <p:spPr>
          <a:xfrm>
            <a:off x="939800" y="21336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dirty="0">
                <a:solidFill>
                  <a:srgbClr val="334155"/>
                </a:solidFill>
                <a:latin typeface="Calibri"/>
              </a:rPr>
              <a:t>≈ 241% ROI in year 1, break-even ~4 months in — from fewer wrong dispatches and fewer second visits.</a:t>
            </a:r>
          </a:p>
        </p:txBody>
      </p:sp>
      <p:sp>
        <p:nvSpPr>
          <p:cNvPr id="1606" name="C1606"/>
          <p:cNvSpPr txBox="1"/>
          <p:nvPr/>
        </p:nvSpPr>
        <p:spPr>
          <a:xfrm>
            <a:off x="6223000" y="1600200"/>
            <a:ext cx="5308600" cy="1320800"/>
          </a:xfrm>
          <a:prstGeom prst="roundRect">
            <a:avLst>
              <a:gd name="adj" fmla="val 10000"/>
            </a:avLst>
          </a:prstGeom>
          <a:solidFill>
            <a:srgbClr val="17406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7" name="C1607"/>
          <p:cNvSpPr txBox="1"/>
          <p:nvPr/>
        </p:nvSpPr>
        <p:spPr>
          <a:xfrm>
            <a:off x="6527800" y="1828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COMPLIANCE</a:t>
            </a:r>
          </a:p>
        </p:txBody>
      </p:sp>
      <p:sp>
        <p:nvSpPr>
          <p:cNvPr id="1608" name="C1608"/>
          <p:cNvSpPr txBox="1"/>
          <p:nvPr/>
        </p:nvSpPr>
        <p:spPr>
          <a:xfrm>
            <a:off x="6527800" y="21336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dirty="0">
                <a:solidFill>
                  <a:srgbClr val="FFFFFF"/>
                </a:solidFill>
                <a:latin typeface="Calibri"/>
              </a:rPr>
              <a:t>Limited risk under the EU AI Act, Art. 50 disclosure shipped, DPIA ready for DPO sign-off.</a:t>
            </a:r>
          </a:p>
        </p:txBody>
      </p:sp>
      <p:sp>
        <p:nvSpPr>
          <p:cNvPr id="1609" name="C1609"/>
          <p:cNvSpPr txBox="1"/>
          <p:nvPr/>
        </p:nvSpPr>
        <p:spPr>
          <a:xfrm>
            <a:off x="635000" y="3149600"/>
            <a:ext cx="10896600" cy="8128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0" name="C1610"/>
          <p:cNvSpPr txBox="1"/>
          <p:nvPr/>
        </p:nvSpPr>
        <p:spPr>
          <a:xfrm>
            <a:off x="939800" y="3149600"/>
            <a:ext cx="10287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Calibri"/>
              </a:rPr>
              <a:t>Next step: a 12-week pilot with 10–15 installers — one decision gate at week 12.</a:t>
            </a:r>
          </a:p>
        </p:txBody>
      </p:sp>
      <p:sp>
        <p:nvSpPr>
          <p:cNvPr id="1611" name="C1611"/>
          <p:cNvSpPr txBox="1"/>
          <p:nvPr/>
        </p:nvSpPr>
        <p:spPr>
          <a:xfrm>
            <a:off x="635000" y="4191000"/>
            <a:ext cx="10896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WHAT WE NEED</a:t>
            </a:r>
          </a:p>
        </p:txBody>
      </p:sp>
      <p:sp>
        <p:nvSpPr>
          <p:cNvPr id="1612" name="C1612"/>
          <p:cNvSpPr txBox="1"/>
          <p:nvPr/>
        </p:nvSpPr>
        <p:spPr>
          <a:xfrm>
            <a:off x="6350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3" name="C1613"/>
          <p:cNvSpPr txBox="1"/>
          <p:nvPr/>
        </p:nvSpPr>
        <p:spPr>
          <a:xfrm>
            <a:off x="14732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1</a:t>
            </a:r>
          </a:p>
        </p:txBody>
      </p:sp>
      <p:sp>
        <p:nvSpPr>
          <p:cNvPr id="1614" name="C1614"/>
          <p:cNvSpPr txBox="1"/>
          <p:nvPr/>
        </p:nvSpPr>
        <p:spPr>
          <a:xfrm>
            <a:off x="7366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Sponsor sign-off</a:t>
            </a:r>
          </a:p>
        </p:txBody>
      </p:sp>
      <p:sp>
        <p:nvSpPr>
          <p:cNvPr id="1615" name="C1615"/>
          <p:cNvSpPr txBox="1"/>
          <p:nvPr/>
        </p:nvSpPr>
        <p:spPr>
          <a:xfrm>
            <a:off x="28448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6" name="C1616"/>
          <p:cNvSpPr txBox="1"/>
          <p:nvPr/>
        </p:nvSpPr>
        <p:spPr>
          <a:xfrm>
            <a:off x="36830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2</a:t>
            </a:r>
          </a:p>
        </p:txBody>
      </p:sp>
      <p:sp>
        <p:nvSpPr>
          <p:cNvPr id="1617" name="C1617"/>
          <p:cNvSpPr txBox="1"/>
          <p:nvPr/>
        </p:nvSpPr>
        <p:spPr>
          <a:xfrm>
            <a:off x="29464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DPO review of the DPIA</a:t>
            </a:r>
          </a:p>
        </p:txBody>
      </p:sp>
      <p:sp>
        <p:nvSpPr>
          <p:cNvPr id="1618" name="C1618"/>
          <p:cNvSpPr txBox="1"/>
          <p:nvPr/>
        </p:nvSpPr>
        <p:spPr>
          <a:xfrm>
            <a:off x="50546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9" name="C1619"/>
          <p:cNvSpPr txBox="1"/>
          <p:nvPr/>
        </p:nvSpPr>
        <p:spPr>
          <a:xfrm>
            <a:off x="58928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3</a:t>
            </a:r>
          </a:p>
        </p:txBody>
      </p:sp>
      <p:sp>
        <p:nvSpPr>
          <p:cNvPr id="1620" name="C1620"/>
          <p:cNvSpPr txBox="1"/>
          <p:nvPr/>
        </p:nvSpPr>
        <p:spPr>
          <a:xfrm>
            <a:off x="51562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10–15 pilot installers</a:t>
            </a:r>
          </a:p>
        </p:txBody>
      </p:sp>
      <p:sp>
        <p:nvSpPr>
          <p:cNvPr id="1621" name="C1621"/>
          <p:cNvSpPr txBox="1"/>
          <p:nvPr/>
        </p:nvSpPr>
        <p:spPr>
          <a:xfrm>
            <a:off x="72644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22" name="C1622"/>
          <p:cNvSpPr txBox="1"/>
          <p:nvPr/>
        </p:nvSpPr>
        <p:spPr>
          <a:xfrm>
            <a:off x="81026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4</a:t>
            </a:r>
          </a:p>
        </p:txBody>
      </p:sp>
      <p:sp>
        <p:nvSpPr>
          <p:cNvPr id="1623" name="C1623"/>
          <p:cNvSpPr txBox="1"/>
          <p:nvPr/>
        </p:nvSpPr>
        <p:spPr>
          <a:xfrm>
            <a:off x="73660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€150–300 / month to run</a:t>
            </a:r>
          </a:p>
        </p:txBody>
      </p:sp>
      <p:sp>
        <p:nvSpPr>
          <p:cNvPr id="1624" name="C1624"/>
          <p:cNvSpPr txBox="1"/>
          <p:nvPr/>
        </p:nvSpPr>
        <p:spPr>
          <a:xfrm>
            <a:off x="94742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25" name="C1625"/>
          <p:cNvSpPr txBox="1"/>
          <p:nvPr/>
        </p:nvSpPr>
        <p:spPr>
          <a:xfrm>
            <a:off x="103124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5</a:t>
            </a:r>
          </a:p>
        </p:txBody>
      </p:sp>
      <p:sp>
        <p:nvSpPr>
          <p:cNvPr id="1626" name="C1626"/>
          <p:cNvSpPr txBox="1"/>
          <p:nvPr/>
        </p:nvSpPr>
        <p:spPr>
          <a:xfrm>
            <a:off x="95758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Week-12 decision gate</a:t>
            </a:r>
          </a:p>
        </p:txBody>
      </p:sp>
    </p:spTree>
    <p:extLst>
      <p:ext uri="{BB962C8B-B14F-4D97-AF65-F5344CB8AC3E}">
        <p14:creationId xmlns:p14="http://schemas.microsoft.com/office/powerpoint/2010/main" val="1461619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8432812162]">
  <a:themeElements>
    <a:clrScheme name="Office">
      <a:dk1>
        <a:srgbClr val="0E2145"/>
      </a:dk1>
      <a:lt1>
        <a:srgbClr val="FFFFFF"/>
      </a:lt1>
      <a:dk2>
        <a:srgbClr val="17406F"/>
      </a:dk2>
      <a:lt2>
        <a:srgbClr val="EFF4FB"/>
      </a:lt2>
      <a:accent1>
        <a:srgbClr val="2563EB"/>
      </a:accent1>
      <a:accent2>
        <a:srgbClr val="1D5FA8"/>
      </a:accent2>
      <a:accent3>
        <a:srgbClr val="6D9BD6"/>
      </a:accent3>
      <a:accent4>
        <a:srgbClr val="8CB8FF"/>
      </a:accent4>
      <a:accent5>
        <a:srgbClr val="0EA5E9"/>
      </a:accent5>
      <a:accent6>
        <a:srgbClr val="DC262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A3ED60-E09F-B04B-B731-FC5620DA47F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6bc2a67-3a82-459c-8e35-ca72fabe00c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1740</TotalTime>
  <Words>3338</Words>
  <Application>Microsoft Macintosh PowerPoint</Application>
  <PresentationFormat>Widescreen</PresentationFormat>
  <Paragraphs>285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 [1788432812162]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Anand N</cp:lastModifiedBy>
  <cp:revision>5</cp:revision>
  <dcterms:created xsi:type="dcterms:W3CDTF">2013-01-27T09:14:16Z</dcterms:created>
  <dcterms:modified xsi:type="dcterms:W3CDTF">2026-09-03T14:13:56Z</dcterms:modified>
  <cp:category/>
</cp:coreProperties>
</file>