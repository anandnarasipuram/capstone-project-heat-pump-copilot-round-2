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9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Connectivity-failure rate (%)</c:v>
                </c:pt>
              </c:strCache>
            </c:strRef>
          </c:tx>
          <c:spPr>
            <a:solidFill>
              <a:srgbClr val="8F3A2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F3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31-A641-85CF-EB15E000AB3F}"/>
              </c:ext>
            </c:extLst>
          </c:dPt>
          <c:dPt>
            <c:idx val="1"/>
            <c:invertIfNegative val="0"/>
            <c:bubble3D val="0"/>
            <c:spPr>
              <a:solidFill>
                <a:srgbClr val="1D4E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31-A641-85CF-EB15E000AB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32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TF-12
(firmware 3.0.0)</c:v>
                </c:pt>
                <c:pt idx="1">
                  <c:v>Other models
(avg. range 15.7–27.7%)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55.9</c:v>
                </c:pt>
                <c:pt idx="1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31-A641-85CF-EB15E000AB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6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320"/>
                </a:solidFill>
                <a:latin typeface="Arial"/>
              </a:defRPr>
            </a:pPr>
            <a:r>
              <a:rPr lang="en-GB" sz="1250" b="0" i="0" u="none" strike="noStrike">
                <a:solidFill>
                  <a:srgbClr val="1B2320"/>
                </a:solidFill>
                <a:latin typeface="Arial"/>
              </a:rPr>
              <a:t>German Heat Pump Sales vs. Political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3"/>
                <c:pt idx="0">
                  <c:v>2023</c:v>
                </c:pt>
                <c:pt idx="1">
                  <c:v>2024 actual</c:v>
                </c:pt>
                <c:pt idx="2">
                  <c:v>2025 forecast</c:v>
                </c:pt>
              </c:strCache>
            </c:strRef>
          </c:tx>
          <c:spPr>
            <a:solidFill>
              <a:srgbClr val="5C666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E1-784E-A8F0-1A69094CFBFB}"/>
              </c:ext>
            </c:extLst>
          </c:dPt>
          <c:dPt>
            <c:idx val="1"/>
            <c:invertIfNegative val="0"/>
            <c:bubble3D val="0"/>
            <c:spPr>
              <a:solidFill>
                <a:srgbClr val="8F3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E1-784E-A8F0-1A69094CFBFB}"/>
              </c:ext>
            </c:extLst>
          </c:dPt>
          <c:dPt>
            <c:idx val="2"/>
            <c:invertIfNegative val="0"/>
            <c:bubble3D val="0"/>
            <c:spPr>
              <a:solidFill>
                <a:srgbClr val="1D4E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E1-784E-A8F0-1A69094CFB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32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 actual</c:v>
                </c:pt>
                <c:pt idx="2">
                  <c:v>2025 forecast</c:v>
                </c:pt>
                <c:pt idx="3">
                  <c:v>2024 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357000</c:v>
                </c:pt>
                <c:pt idx="1">
                  <c:v>193000</c:v>
                </c:pt>
                <c:pt idx="2">
                  <c:v>257000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E1-784E-A8F0-1A69094CF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6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51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D4E4E">
              <a:alpha val="6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A8620F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" name="Image 0" descr="icons/therm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13" y="8812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AI CAPSTONE  ·  ROUND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Pump Field Commissioning &amp;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HEMS Connectivity Copilot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installer-facing AI triage tool that turns fault reports into hardware‑vs‑connectivity clarity — built for a small‑medium heat pump manufacturer entering the German market.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3291840" cy="0"/>
          </a:xfrm>
          <a:prstGeom prst="line">
            <a:avLst/>
          </a:prstGeom>
          <a:noFill/>
          <a:ln w="12700">
            <a:solidFill>
              <a:srgbClr val="3A626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Narasipuram   ·   Home Energy &amp; HVAC sector   ·   Field Commissioning &amp; Connectivity Copilot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a target-vs-actual gap, not a demand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531620" y="1892808"/>
            <a:ext cx="640080" cy="64008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38" y="2036826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3232" y="333756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pumps/yr — Germany's political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from 2024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4393692" y="1892808"/>
            <a:ext cx="640080" cy="640080"/>
          </a:xfrm>
          <a:prstGeom prst="ellipse">
            <a:avLst/>
          </a:prstGeom>
          <a:solidFill>
            <a:srgbClr val="8F3A2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1" descr="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710" y="2036826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697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193,000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75304" y="333756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2024 sales — down 46% from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2023, badly missing target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1"/>
          <p:cNvSpPr/>
          <p:nvPr/>
        </p:nvSpPr>
        <p:spPr>
          <a:xfrm>
            <a:off x="7255764" y="1892808"/>
            <a:ext cx="640080" cy="64008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782" y="2036826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697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37376" y="333756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needed in the certified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workforce by 2030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10117836" y="1892808"/>
            <a:ext cx="640080" cy="64008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icons/too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1854" y="2036826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697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12k vs 35k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99448" y="333756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 tradespeople trained per year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number actually needed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11192256" cy="1234440"/>
          </a:xfrm>
          <a:prstGeom prst="roundRect">
            <a:avLst>
              <a:gd name="adj" fmla="val 5926"/>
            </a:avLst>
          </a:prstGeom>
          <a:solidFill>
            <a:srgbClr val="E4EC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19"/>
          <p:cNvSpPr/>
          <p:nvPr/>
        </p:nvSpPr>
        <p:spPr>
          <a:xfrm>
            <a:off x="822960" y="4846320"/>
            <a:ext cx="106436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D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capacity-driven, not demand-driven.  </a:t>
            </a:r>
            <a:r>
              <a:rPr lang="en-US" sz="13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can't hire its way to the 2030 target fast enough — a copilot that raises first-visit fix rate multiplies the installers the manufacturer already has, instead of requiring headcount it can't hire.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fault triage is genuinely ambiguous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heat pumps rely on proprietary communication protocols</a:t>
            </a:r>
            <a:r>
              <a:rPr lang="en-US" sz="14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(BACnet, Modbus, LonTalk) to modulate capacity — and a HEMS/thermostat controller must be matched to the exact outdoor unit. A mismatch runs in a degraded mode rather than failing cleanly.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commissioning is the norm, not the exception: </a:t>
            </a:r>
            <a:r>
              <a:rPr lang="en-US" sz="14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DOE-funded research found 70–90% of air conditioner/heat pump systems have at least one performance-compromising installation fault (90–100% incl. duct leakage).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installer facing a “not responding correctly” unit genuinely cannot tell, from the symptom alone, which of three things is wrong: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169164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B232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720840" y="16916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reported / symptom described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89720" y="2377440"/>
            <a:ext cx="0" cy="320040"/>
          </a:xfrm>
          <a:prstGeom prst="line">
            <a:avLst/>
          </a:prstGeom>
          <a:noFill/>
          <a:ln w="1905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6720840" y="2697480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1E0DA"/>
          </a:solidFill>
          <a:ln w="9525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7237476" y="2880360"/>
            <a:ext cx="502920" cy="502920"/>
          </a:xfrm>
          <a:prstGeom prst="ellipse">
            <a:avLst/>
          </a:prstGeom>
          <a:solidFill>
            <a:srgbClr val="8F3A2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icons/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633" y="2993517"/>
            <a:ext cx="276606" cy="27660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75704" y="345643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fault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75704" y="382219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/ refrigerant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issue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21624" y="2697480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E4ECE9"/>
          </a:solidFill>
          <a:ln w="9525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3"/>
          <p:cNvSpPr/>
          <p:nvPr/>
        </p:nvSpPr>
        <p:spPr>
          <a:xfrm>
            <a:off x="8938260" y="2880360"/>
            <a:ext cx="502920" cy="50292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1" descr="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417" y="2993517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76488" y="345643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issue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476488" y="382219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pairing / app /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problem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0122408" y="2697480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3E6D2"/>
          </a:solidFill>
          <a:ln w="9525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7"/>
          <p:cNvSpPr/>
          <p:nvPr/>
        </p:nvSpPr>
        <p:spPr>
          <a:xfrm>
            <a:off x="10639044" y="2880360"/>
            <a:ext cx="502920" cy="50292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2" descr="icons/to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2201" y="2993517"/>
            <a:ext cx="276606" cy="2766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177272" y="345643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error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0177272" y="382219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 step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wrong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720840" y="470916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1"/>
          <p:cNvSpPr/>
          <p:nvPr/>
        </p:nvSpPr>
        <p:spPr>
          <a:xfrm>
            <a:off x="6949440" y="47091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cleanly separates these three — confirmed by dataset search. Round 1 fills the gap with a self-authored synthetic fault dataset.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candidates, spanning the service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D4E4E"/>
          </a:solidFill>
          <a:ln w="12700">
            <a:solidFill>
              <a:srgbClr val="1D4E4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7" name="Image 0" descr="icons/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51" y="241973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9900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Commissioning &amp;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Copilot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fault after it's reported: hardware, connectivity, or installer error.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443484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960120" y="44348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4840" y="16916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4709160" y="1920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2286000"/>
            <a:ext cx="594360" cy="59436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5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891" y="2419731"/>
            <a:ext cx="326898" cy="3268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29900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Commissioning-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 Checker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709160" y="37033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refrigerant charge, HEMS pairing &amp; firmware were completed before sign-off.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09160" y="44805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Round 2 companion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83880" y="16916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6"/>
          <p:cNvSpPr/>
          <p:nvPr/>
        </p:nvSpPr>
        <p:spPr>
          <a:xfrm>
            <a:off x="8458200" y="1920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458200" y="2286000"/>
            <a:ext cx="594360" cy="59436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931" y="2419731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29900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COP-Drop Early-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Copilot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458200" y="37033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unit likely to fail before anyone calls it in, from performance trends.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458200" y="44805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Round 2 companion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85800" y="5166360"/>
            <a:ext cx="10927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is the only posture buildable end-to-end on public + synthetic data alone — the most de-risked starting point, not just the most obvious one.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code + symptom → classification → fix or escalation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00400" cy="1965960"/>
          </a:xfrm>
          <a:prstGeom prst="roundRect">
            <a:avLst>
              <a:gd name="adj" fmla="val 4651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2080260" y="2103120"/>
            <a:ext cx="685800" cy="685800"/>
          </a:xfrm>
          <a:prstGeom prst="ellipse">
            <a:avLst/>
          </a:prstGeom>
          <a:solidFill>
            <a:srgbClr val="1B232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56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reports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273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code or plain-language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symptom, on-site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33088" y="2811780"/>
            <a:ext cx="603504" cy="0"/>
          </a:xfrm>
          <a:prstGeom prst="line">
            <a:avLst/>
          </a:prstGeom>
          <a:noFill/>
          <a:ln w="28575">
            <a:solidFill>
              <a:srgbClr val="A8620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3200400" cy="1965960"/>
          </a:xfrm>
          <a:prstGeom prst="roundRect">
            <a:avLst>
              <a:gd name="adj" fmla="val 4651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6103620" y="2103120"/>
            <a:ext cx="685800" cy="68580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1" descr="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225742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classifies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3273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fault, HEMS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or installer error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811780"/>
            <a:ext cx="603504" cy="0"/>
          </a:xfrm>
          <a:prstGeom prst="line">
            <a:avLst/>
          </a:prstGeom>
          <a:noFill/>
          <a:ln w="28575">
            <a:solidFill>
              <a:srgbClr val="A8620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8869680" y="1828800"/>
            <a:ext cx="3200400" cy="1965960"/>
          </a:xfrm>
          <a:prstGeom prst="roundRect">
            <a:avLst>
              <a:gd name="adj" fmla="val 4651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10126980" y="2103120"/>
            <a:ext cx="685800" cy="68580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1285" y="225742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returned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052560" y="3273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fix steps, or 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escalation route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22960" y="434340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E4EC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1097280" y="4617720"/>
            <a:ext cx="594360" cy="59436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011" y="4751451"/>
            <a:ext cx="326898" cy="32689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74520" y="4480560"/>
            <a:ext cx="10012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D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advisory, human in the loop.  </a:t>
            </a:r>
            <a:r>
              <a:rPr lang="en-US" sz="125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 never issues autonomous repair instructions for hardware faults. Every reply is labeled “AI-suggested triage, confirm before acting” — keeping the tool inside the EU AI Act's limited-risk tier by design.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proof-of-concept, live on Telegram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234440" y="1856232"/>
            <a:ext cx="502920" cy="50292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icons/tele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97" y="196938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4688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78024" y="2400300"/>
            <a:ext cx="274320" cy="0"/>
          </a:xfrm>
          <a:prstGeom prst="line">
            <a:avLst/>
          </a:prstGeom>
          <a:noFill/>
          <a:ln w="25400">
            <a:solidFill>
              <a:srgbClr val="A8620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2807208" y="1691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3493008" y="1856232"/>
            <a:ext cx="502920" cy="50292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165" y="196938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4688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36592" y="2400300"/>
            <a:ext cx="274320" cy="0"/>
          </a:xfrm>
          <a:prstGeom prst="line">
            <a:avLst/>
          </a:prstGeom>
          <a:noFill/>
          <a:ln w="25400">
            <a:solidFill>
              <a:srgbClr val="A8620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1"/>
          <p:cNvSpPr/>
          <p:nvPr/>
        </p:nvSpPr>
        <p:spPr>
          <a:xfrm>
            <a:off x="5751576" y="1856232"/>
            <a:ext cx="502920" cy="50292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2" descr="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733" y="196938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4688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fault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code?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95160" y="2400300"/>
            <a:ext cx="274320" cy="0"/>
          </a:xfrm>
          <a:prstGeom prst="line">
            <a:avLst/>
          </a:prstGeom>
          <a:noFill/>
          <a:ln w="25400">
            <a:solidFill>
              <a:srgbClr val="A8620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4"/>
          <p:cNvSpPr/>
          <p:nvPr/>
        </p:nvSpPr>
        <p:spPr>
          <a:xfrm>
            <a:off x="7324344" y="1691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1D4E4E"/>
          </a:solidFill>
          <a:ln w="12700">
            <a:solidFill>
              <a:srgbClr val="1D4E4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010144" y="1856232"/>
            <a:ext cx="502920" cy="50292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301" y="196938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7496" y="24688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/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classify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253728" y="2400300"/>
            <a:ext cx="274320" cy="0"/>
          </a:xfrm>
          <a:prstGeom prst="line">
            <a:avLst/>
          </a:prstGeom>
          <a:noFill/>
          <a:ln w="25400">
            <a:solidFill>
              <a:srgbClr val="A8620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9582912" y="1691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19"/>
          <p:cNvSpPr/>
          <p:nvPr/>
        </p:nvSpPr>
        <p:spPr>
          <a:xfrm>
            <a:off x="10268712" y="1856232"/>
            <a:ext cx="502920" cy="50292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6" name="Image 4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869" y="196938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246888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333756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codes (E4, E7, E12, E2, CONN-01) resolve instantly via a free deterministic lookup — no LLM cost. Everything else routes to OpenAI (gpt-4o-mini, JSON mode), which falls back safely to escalation if its output can't be parsed.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109960" cy="1874520"/>
        </p:xfrm>
        <a:graphic>
          <a:graphicData uri="http://schemas.openxmlformats.org/drawingml/2006/table">
            <a:tbl>
              <a:tblPr/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Installer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“Low refrigerant pressure alarm, error code E4”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lookup (free)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Hardware fault — escalate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“Smart meter gateway will not pair with control unit”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classify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Connectivity issue — re-pair via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“Unit trips on startup, wiring terminal check shows loose connection”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classify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Installer error — correct step, no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copilot would show a CEO or ops lead, day to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94560" cy="1691640"/>
          </a:xfrm>
          <a:prstGeom prst="roundRect">
            <a:avLst>
              <a:gd name="adj" fmla="val 4865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31520" y="1847088"/>
            <a:ext cx="502920" cy="50292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" y="196024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fix rate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1645920"/>
            <a:ext cx="2194560" cy="1691640"/>
          </a:xfrm>
          <a:prstGeom prst="roundRect">
            <a:avLst>
              <a:gd name="adj" fmla="val 4865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3200400" y="1847088"/>
            <a:ext cx="502920" cy="502920"/>
          </a:xfrm>
          <a:prstGeom prst="ellipse">
            <a:avLst/>
          </a:prstGeom>
          <a:solidFill>
            <a:srgbClr val="8F3A2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3557" y="1960245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200400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False-hardware-fault rate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costliest error)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0" y="1645920"/>
            <a:ext cx="2194560" cy="1691640"/>
          </a:xfrm>
          <a:prstGeom prst="roundRect">
            <a:avLst>
              <a:gd name="adj" fmla="val 4865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1"/>
          <p:cNvSpPr/>
          <p:nvPr/>
        </p:nvSpPr>
        <p:spPr>
          <a:xfrm>
            <a:off x="5669280" y="1847088"/>
            <a:ext cx="502920" cy="50292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2" descr="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437" y="1960245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min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5669280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commissioning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site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002788" y="36804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Connectivity-Failure Rate by Model — the firmware signal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320610720"/>
              </p:ext>
            </p:extLst>
          </p:nvPr>
        </p:nvGraphicFramePr>
        <p:xfrm>
          <a:off x="6903720" y="4411980"/>
          <a:ext cx="3864483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Text 15"/>
          <p:cNvSpPr/>
          <p:nvPr/>
        </p:nvSpPr>
        <p:spPr>
          <a:xfrm>
            <a:off x="6858000" y="606247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TF-12 runs more than double the connectivity-failure rate of every other model — pointing straight at the firmware 3.0.0 rollout as an investigation target.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3520440"/>
            <a:ext cx="6035040" cy="2606040"/>
          </a:xfrm>
          <a:prstGeom prst="roundRect">
            <a:avLst>
              <a:gd name="adj" fmla="val 3158"/>
            </a:avLst>
          </a:prstGeom>
          <a:solidFill>
            <a:srgbClr val="E4EC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17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STAKEHOLDER METRICS, BUILT IN TABLEAU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" y="402336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First-visit fix rate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False-hardware-fault rate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Avg. commissioning time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Connectivity-failure rate by model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Fault category mix over time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Ticket volume by installer type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First-visit fix rate by installer type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project's data is built to fill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309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4592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36092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COVERAGE GAP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21945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E4EC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7543800" y="22677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Hardware-fault datasets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4380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available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60920" y="3310128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E4EC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5438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telemetry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438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available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60920" y="4425696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3E6D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7543800" y="44988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Hardware-vs-connectivity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43800" y="4956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— this project's gap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539496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authors a small, clearly-labeled synthetic dataset to fill this gap — stated as a limitation, not presented as production-grade coverage.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cxnSp>
        <p:nvCxnSpPr>
          <p:cNvPr id="19" name="TargetLine">
            <a:extLst>
              <a:ext uri="{FF2B5EF4-FFF2-40B4-BE49-F238E27FC236}">
                <a16:creationId xmlns:a16="http://schemas.microsoft.com/office/drawing/2014/main" id="{8DC52571-4BD9-9F45-8FAB-50D4A1E71E35}"/>
              </a:ext>
            </a:extLst>
          </p:cNvPr>
          <p:cNvCxnSpPr/>
          <p:nvPr/>
        </p:nvCxnSpPr>
        <p:spPr>
          <a:xfrm>
            <a:off x="685800" y="2374900"/>
            <a:ext cx="6070600" cy="6350"/>
          </a:xfrm>
          <a:prstGeom prst="straightConnector1">
            <a:avLst/>
          </a:prstGeom>
          <a:ln w="22225" cap="flat" cmpd="sng" algn="ctr">
            <a:solidFill>
              <a:srgbClr val="A8620F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argetLabel">
            <a:extLst>
              <a:ext uri="{FF2B5EF4-FFF2-40B4-BE49-F238E27FC236}">
                <a16:creationId xmlns:a16="http://schemas.microsoft.com/office/drawing/2014/main" id="{DC4C6E8D-149A-514C-962B-1FFADAFB2852}"/>
              </a:ext>
            </a:extLst>
          </p:cNvPr>
          <p:cNvSpPr txBox="1"/>
          <p:nvPr/>
        </p:nvSpPr>
        <p:spPr>
          <a:xfrm>
            <a:off x="3810000" y="2070100"/>
            <a:ext cx="2946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050" b="1">
                <a:solidFill>
                  <a:srgbClr val="A8620F"/>
                </a:solidFill>
                <a:latin typeface="Arial"/>
                <a:cs typeface="Arial"/>
              </a:rPr>
              <a:t>Political target: 500.000/yr from 2024</a:t>
            </a:r>
            <a:endParaRPr lang="en-DE" sz="1050" b="1">
              <a:solidFill>
                <a:srgbClr val="A8620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21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anyone would know why the copilot said what it said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is inspectable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traces the exact prompt sent and the exact text returned — not a black-box “the AI decided X.”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measurable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LangSmith dataset + experiment scored 5/5 correct across all three fault categories.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AF9F5"/>
          </a:solidFill>
          <a:ln w="12700">
            <a:solidFill>
              <a:srgbClr val="DDD8C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1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2" descr="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20436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are visible, not silent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model output is recorded in the trace and falls back to safe escalation — never to “no action.”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59" y="451827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206240"/>
            <a:ext cx="90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Act: limited-risk by design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572000"/>
            <a:ext cx="9006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decision-support with a human installer in the loop carries only a transparency obligation (disclose the AI interaction). If a future version were positioned as gating safety decisions autonomously, it could tip into the high-risk tier — flagged explicitly as a boundary to keep watching, not a solved question.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openly, with a mitigation for each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142232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adjacency — field work touches refrigerant &amp; electrical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Framed explicitly as human-in-the-loop decision support, never autonomous instruction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Act boundary risk if scope quietly expands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Limited-risk framing kept as a stated, revisited assumption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dataset maps hardware vs. connectivity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clearly-labeled synthetic dataset; limitation stated openly, not hidden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Refrigerant transition (EU F-Gas, 2027–2028) will age the fault taxonomy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Fault-code table kept modular/data-driven — updates are a content change, not a rebuild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exposure grows if real installer/customer data is introduced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uses public/synthetic data only; real-data scope deferred to Round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demand rebound is a forecast, not a 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leans on the installer-capacity story, which holds regardless of demand timing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scope only — Round 2 quoted after the keep/change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(ONE-TIME)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94960" cy="21945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use-case scoping &amp; dataset authoring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POC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monitoring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dashboard +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QA, integration, presentation prep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— ~19 consultant-days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€12,350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4EC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D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total: ≈ €13,650–15,100
</a:t>
            </a:r>
            <a:r>
              <a:rPr lang="en-US" sz="115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retainer; +€3,900 with an optional 0.5-day/month maintenance retainer). Run cost at pilot scale: ≈ €110–230/month.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8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WEEK 8, DAY 3 → WEEK 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965960"/>
            <a:ext cx="292608" cy="292608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0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2024482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19385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lock + research pack</a:t>
            </a:r>
            <a:endParaRPr lang="en-US" sz="1200" dirty="0"/>
          </a:p>
        </p:txBody>
      </p:sp>
      <p:sp>
        <p:nvSpPr>
          <p:cNvPr id="5" name="Shape 8"/>
          <p:cNvSpPr/>
          <p:nvPr/>
        </p:nvSpPr>
        <p:spPr>
          <a:xfrm>
            <a:off x="6400800" y="2468880"/>
            <a:ext cx="292608" cy="292608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2527402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24414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authored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0" y="2971800"/>
            <a:ext cx="292608" cy="292608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3030322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2280" y="294436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POC built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00800" y="3474720"/>
            <a:ext cx="292608" cy="292608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3533242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12280" y="34472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sample verified (5/5 correct)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400800" y="3977640"/>
            <a:ext cx="292608" cy="292608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4036162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12280" y="39502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(12 sheets) built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400800" y="4480560"/>
            <a:ext cx="292608" cy="292608"/>
          </a:xfrm>
          <a:prstGeom prst="ellipse">
            <a:avLst/>
          </a:prstGeom>
          <a:solidFill>
            <a:srgbClr val="1D4E4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5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2" y="4539082"/>
            <a:ext cx="175565" cy="1755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12280" y="4453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Cost/timeline estimate finalized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400800" y="4983480"/>
            <a:ext cx="292608" cy="292608"/>
          </a:xfrm>
          <a:prstGeom prst="ellipse">
            <a:avLst/>
          </a:prstGeom>
          <a:solidFill>
            <a:srgbClr val="C9C2A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8" name="Image 6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322" y="5042002"/>
            <a:ext cx="175565" cy="17556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12280" y="49560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delivered to teaching staff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1D4E4E">
              <a:alpha val="5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flagship, sequenced into a product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8403F"/>
          </a:solidFill>
          <a:ln w="12700">
            <a:solidFill>
              <a:srgbClr val="2C555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6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46120" y="1892808"/>
            <a:ext cx="502920" cy="50292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Image 0" descr="icons/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277" y="2005965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4688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Commissioning &amp;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Copilot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this Round 1 POC, hardened into an MVP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8403F"/>
          </a:solidFill>
          <a:ln w="12700">
            <a:solidFill>
              <a:srgbClr val="2C555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461772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6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995160" y="1892808"/>
            <a:ext cx="502920" cy="50292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317" y="2005965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4688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Commissioning-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 Checker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1772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— catch missed steps before sign-off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8403F"/>
          </a:solidFill>
          <a:ln w="12700">
            <a:solidFill>
              <a:srgbClr val="2C555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/>
          <p:nvPr/>
        </p:nvSpPr>
        <p:spPr>
          <a:xfrm>
            <a:off x="836676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6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10744200" y="1892808"/>
            <a:ext cx="502920" cy="502920"/>
          </a:xfrm>
          <a:prstGeom prst="ellipse">
            <a:avLst/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0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357" y="2005965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24688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COP-Drop Early-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Copilot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6676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— flag failing units before they're reported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251960"/>
            <a:ext cx="10927080" cy="1691640"/>
          </a:xfrm>
          <a:prstGeom prst="roundRect">
            <a:avLst>
              <a:gd name="adj" fmla="val 5405"/>
            </a:avLst>
          </a:prstGeom>
          <a:solidFill>
            <a:srgbClr val="A8620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19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914400" y="4709160"/>
            <a:ext cx="10287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use case, and greenlight Round 2: harden the POC into a working MVP, add the EU AI Act / GDPR compliance package, and scope a pilot with 15–30 installers.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Field Commissioning &amp; Connectivity Copilot  ·  Shape AI Capstone, Round 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0F8EB5-B346-F140-B25C-5AD03A1BD75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d06ec4c-3f93-4142-a574-de97dc6223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1566</Words>
  <Application>Microsoft Macintosh PowerPoint</Application>
  <PresentationFormat>Widescreen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 N</cp:lastModifiedBy>
  <cp:revision>2</cp:revision>
  <dcterms:created xsi:type="dcterms:W3CDTF">2026-09-01T10:43:17Z</dcterms:created>
  <dcterms:modified xsi:type="dcterms:W3CDTF">2026-09-01T12:45:51Z</dcterms:modified>
</cp:coreProperties>
</file>